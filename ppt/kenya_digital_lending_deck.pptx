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2674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6459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2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INVESTMENT COMMITTEE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0" y="1188720"/>
            <a:ext cx="9144000" cy="2377440"/>
          </a:xfrm>
          <a:prstGeom prst="rect">
            <a:avLst/>
          </a:prstGeom>
          <a:solidFill>
            <a:srgbClr val="0F1420">
              <a:alpha val="70000"/>
            </a:srgbClr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188720"/>
            <a:ext cx="91440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61872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Consumer Lending
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Due Diligence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0" y="2706624"/>
            <a:ext cx="914400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Investment Memorandum  |  February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03120" y="3246120"/>
            <a:ext cx="4937760" cy="822960"/>
          </a:xfrm>
          <a:prstGeom prst="rect">
            <a:avLst/>
          </a:prstGeom>
          <a:solidFill>
            <a:srgbClr val="0F1420"/>
          </a:solidFill>
          <a:ln w="25400">
            <a:solidFill>
              <a:srgbClr val="00D4A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3264408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INVEST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03120" y="367588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decision criteria pass  |  10,000 Monte Carlo simulations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4187952"/>
            <a:ext cx="1737360" cy="566928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4261104"/>
            <a:ext cx="1554480" cy="294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65760" y="4494093"/>
            <a:ext cx="1554480" cy="141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Loss Prob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48840" y="4187952"/>
            <a:ext cx="1737360" cy="566928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240280" y="4261104"/>
            <a:ext cx="1554480" cy="294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240280" y="4494093"/>
            <a:ext cx="1554480" cy="141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IRR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4187952"/>
            <a:ext cx="1737360" cy="566928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0" y="4261104"/>
            <a:ext cx="1554480" cy="294803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19.2M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114800" y="4494093"/>
            <a:ext cx="1554480" cy="141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Borrowers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42062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Geoffrey Mutuku</a:t>
            </a:r>
            <a:endParaRPr lang="en-US" sz="1000" dirty="0"/>
          </a:p>
          <a:p>
            <a:pPr marL="0" indent="0" algn="r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Analyst  |  February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Reasons We Invest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2761488" cy="3703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89304" y="1097280"/>
            <a:ext cx="685800" cy="685800"/>
          </a:xfrm>
          <a:prstGeom prst="ellipse">
            <a:avLst/>
          </a:prstGeom>
          <a:solidFill>
            <a:srgbClr val="1C2336"/>
          </a:solidFill>
          <a:ln w="19050">
            <a:solidFill>
              <a:srgbClr val="3A7B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9304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84708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14016"/>
            <a:ext cx="2395728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6888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65760" y="2907792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adult penetration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3145536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35.8M active users processing KES 38,290B in annual transaction value.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distribution is already built. A lender needs only to plug in — not build.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4590288"/>
            <a:ext cx="2578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Safaricom AR FY2025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172968" y="1024128"/>
            <a:ext cx="2761488" cy="3703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87952" y="1097280"/>
            <a:ext cx="685800" cy="685800"/>
          </a:xfrm>
          <a:prstGeom prst="ellipse">
            <a:avLst/>
          </a:prstGeom>
          <a:solidFill>
            <a:srgbClr val="1C2336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87952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64408" y="184708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Gap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Structural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55848" y="2414016"/>
            <a:ext cx="2395728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246888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58pp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264408" y="2907792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global credit-to-GDP avg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10128" y="3145536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credit/GDP ~32% vs global ~90%.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19.2M adults are digitally reachable and creditworthy but have no formal credit history.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64408" y="4590288"/>
            <a:ext cx="2578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World Bank · IMF FAS 2021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071616" y="1024128"/>
            <a:ext cx="2761488" cy="3703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86600" y="1097280"/>
            <a:ext cx="685800" cy="685800"/>
          </a:xfrm>
          <a:prstGeom prst="ellipse">
            <a:avLst/>
          </a:prstGeom>
          <a:solidFill>
            <a:srgbClr val="1C2336"/>
          </a:solidFill>
          <a:ln w="19050">
            <a:solidFill>
              <a:srgbClr val="00D4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10972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63056" y="1847088"/>
            <a:ext cx="2578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Compelling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54496" y="2414016"/>
            <a:ext cx="2395728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63056" y="2468880"/>
            <a:ext cx="2578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63056" y="2907792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loss probability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08776" y="3145536"/>
            <a:ext cx="24871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IRR 86.7%. 5th percentile 65.1%.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10,000 Monte Carlo paths produced positive returns. Severe recession IRR: 27.2%.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163056" y="4590288"/>
            <a:ext cx="257860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Notebook 04 Monte Carlo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Macroeconomic Environment  |  2014–2025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5852160" cy="365760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2412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C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macro_overview.png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1C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outputs/charts/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042416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rates and NPL ratio  |  Jan 2014 – Nov 2025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4553712"/>
            <a:ext cx="164592" cy="164592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45354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Lending Rate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86000" y="4553712"/>
            <a:ext cx="164592" cy="16459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87168" y="45354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4800" y="4553712"/>
            <a:ext cx="164592" cy="164592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4535424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Ratio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63640" y="1024128"/>
            <a:ext cx="2606040" cy="804672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13385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12.34%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69480" y="1143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NPL Ratio Peak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269480" y="1417320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— post-COVID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63640" y="1947672"/>
            <a:ext cx="2606040" cy="804672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269480" y="2066544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 Peak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269480" y="2340864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— CBK tightening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63640" y="2871216"/>
            <a:ext cx="2606040" cy="804672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98094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269480" y="2990088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Rate Floor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269480" y="3264408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 — COVID stimulus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63640" y="3794760"/>
            <a:ext cx="2606040" cy="804672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90448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10yrs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7269480" y="3913632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Panel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69480" y="4187952"/>
            <a:ext cx="1508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monthly observations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63640" y="4645152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CBK Statistical Bulletin · World Bank Open Data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Elasticities calibrated from this panel for stress model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892040"/>
            <a:ext cx="73152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62AECCA9-8248-2155-3CE4-F3891A573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1" y="1238251"/>
            <a:ext cx="5714999" cy="32331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Ecosystem  |  The Distribution Advantage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2761488" cy="1417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VALUE FY2025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365760" y="1243584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38,290B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792224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FY2020–FY2025: +22.3%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993392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KES 14,151B in FY2020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172968" y="1024128"/>
            <a:ext cx="2761488" cy="1417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105156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FY2025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264408" y="1243584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35.8M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64408" y="1792224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FY2020–FY2025: +7.5%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64408" y="1993392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101% of adult population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71616" y="1024128"/>
            <a:ext cx="2761488" cy="1417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1051560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PENETRATION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163056" y="1243584"/>
            <a:ext cx="2578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63056" y="1792224"/>
            <a:ext cx="2578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users per adult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63056" y="1993392"/>
            <a:ext cx="25786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distribution is complete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74320" y="2578608"/>
            <a:ext cx="8595360" cy="201168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578608"/>
            <a:ext cx="8595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CHART: MPesa Growth — Transaction Value (bars) vs Active Customers (line)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1C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MPesa Growth sheet from Tableau as image OR use mpesa chart from outputs/charts/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4434840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Safaricom Annual Reports FY2020–FY2025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8708BA5-48AA-E9F2-2303-EDD0B43212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96"/>
          <a:stretch>
            <a:fillRect/>
          </a:stretch>
        </p:blipFill>
        <p:spPr>
          <a:xfrm>
            <a:off x="2354317" y="2643090"/>
            <a:ext cx="4256690" cy="18836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→ SAM → SOM  |  19.2M Digitally Reachable Borrowers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5120640" cy="1024128"/>
          </a:xfrm>
          <a:prstGeom prst="rect">
            <a:avLst/>
          </a:prstGeom>
          <a:solidFill>
            <a:srgbClr val="3A7BD5">
              <a:alpha val="85000"/>
            </a:srgbClr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Total Addressable Market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4937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Kenyan adults with unmet credit demand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4389120" cy="1024128"/>
          </a:xfrm>
          <a:prstGeom prst="rect">
            <a:avLst/>
          </a:prstGeom>
          <a:solidFill>
            <a:srgbClr val="00D4A0">
              <a:alpha val="85000"/>
            </a:srgbClr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7627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Serviceable Addressable Market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42062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31520" y="2816352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via M-Pesa today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097280" y="3182112"/>
            <a:ext cx="3474720" cy="1024128"/>
          </a:xfrm>
          <a:prstGeom prst="rect">
            <a:avLst/>
          </a:prstGeom>
          <a:solidFill>
            <a:srgbClr val="F0A500">
              <a:alpha val="85000"/>
            </a:srgbClr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25526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Year 3 Target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88720" y="349300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576K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188720" y="3895344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SAM share  |  3.2 loans/year avg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577840" y="1024128"/>
            <a:ext cx="3291840" cy="9601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024128"/>
            <a:ext cx="64008" cy="9601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109728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TAM ≈ SAM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15000" y="1353312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penetration at 101% of adults means the addressable market is almost entirely digitally reachable. Unlike most emerging markets, Kenya requires no infrastructure buildout.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577840" y="2048256"/>
            <a:ext cx="3291840" cy="9601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77840" y="2048256"/>
            <a:ext cx="64008" cy="9601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12140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15000" y="23774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SAM share anchored to Tala and Branch Kenya growth trajectories in their first three years. No distribution innovation required — only operational execution.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577840" y="3072384"/>
            <a:ext cx="3291840" cy="9601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3072384"/>
            <a:ext cx="64008" cy="9601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15000" y="314553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58pp Credit Gap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3401568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credit/GDP ~32% vs global ~90%. This gap represents decades of underinvestment in consumer credit infrastructure. Digital lenders with behavioural data can close it profitably.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74320" y="43159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World Bank · IMF FAS · FinAccess 2021 · Safaricom AR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 Risk Model  |  Gradient Boosting  |  AUC 0.7396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8595360" cy="658368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607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0" y="1078992"/>
            <a:ext cx="0" cy="493776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0607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0.7396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94560" y="13716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49040" y="1078992"/>
            <a:ext cx="0" cy="493776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10607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307,511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13716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Samples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0" y="1078992"/>
            <a:ext cx="0" cy="493776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10607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0.994x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0" y="13716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Factor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223760" y="1078992"/>
            <a:ext cx="0" cy="493776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106070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06640" y="13716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Target Rate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73936"/>
          <a:ext cx="8595360" cy="17373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Rec. APR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Near Prime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Subprime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 (Weighted)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274320" y="3657600"/>
            <a:ext cx="4160520" cy="987552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4048" y="37124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Calibration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84048" y="3950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default rate 8.1% calibrated to Kenya digital target 8.0% using Platt scaling. Calibration factor 0.994x — near-perfect alignment. Retained as infrastructure for future Kenya-native recalibration.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9160" y="3657600"/>
            <a:ext cx="4160520" cy="987552"/>
          </a:xfrm>
          <a:prstGeom prst="rect">
            <a:avLst/>
          </a:prstGeom>
          <a:solidFill>
            <a:srgbClr val="0F1420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18888" y="37124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18888" y="395020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non-Kenya borrower data (Eastern Europe / SE Asia). Outputs are directional estimates pending Kenya-native CRB data. Recalibration recommended after 12 months of operational loan performance data.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and 3-Year Portfolio Projections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3840480" cy="3703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07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— KES 10,000 Loan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3749040" cy="329184"/>
          </a:xfrm>
          <a:prstGeom prst="rect">
            <a:avLst/>
          </a:prstGeom>
          <a:solidFill>
            <a:srgbClr val="00D4A0">
              <a:alpha val="50000"/>
            </a:srgbClr>
          </a:solidFill>
          <a:ln w="6350">
            <a:solidFill>
              <a:srgbClr val="00D4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081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Income (30% APR, 3mo)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2880360" y="14081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+KES 750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737360"/>
            <a:ext cx="3749040" cy="329184"/>
          </a:xfrm>
          <a:prstGeom prst="rect">
            <a:avLst/>
          </a:prstGeom>
          <a:solidFill>
            <a:srgbClr val="00D4A0">
              <a:alpha val="65000"/>
            </a:srgbClr>
          </a:solidFill>
          <a:ln w="6350">
            <a:solidFill>
              <a:srgbClr val="00D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7739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Fee (6%)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880360" y="17739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+KES 600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103120"/>
            <a:ext cx="3749040" cy="329184"/>
          </a:xfrm>
          <a:prstGeom prst="rect">
            <a:avLst/>
          </a:prstGeom>
          <a:solidFill>
            <a:srgbClr val="3A7BD5"/>
          </a:solidFill>
          <a:ln w="6350">
            <a:solidFill>
              <a:srgbClr val="3A7B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396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Revenue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880360" y="21396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1,350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468880"/>
            <a:ext cx="3749040" cy="329184"/>
          </a:xfrm>
          <a:prstGeom prst="rect">
            <a:avLst/>
          </a:prstGeom>
          <a:solidFill>
            <a:srgbClr val="E84040">
              <a:alpha val="60000"/>
            </a:srgbClr>
          </a:solidFill>
          <a:ln w="6350">
            <a:solidFill>
              <a:srgbClr val="E840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50545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Cost (14% APR)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880360" y="25054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-KES 350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3749040" cy="329184"/>
          </a:xfrm>
          <a:prstGeom prst="rect">
            <a:avLst/>
          </a:prstGeom>
          <a:solidFill>
            <a:srgbClr val="E84040">
              <a:alpha val="70000"/>
            </a:srgbClr>
          </a:solidFill>
          <a:ln w="6350">
            <a:solidFill>
              <a:srgbClr val="E84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87121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Credit Loss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80360" y="287121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-KES 170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200400"/>
            <a:ext cx="3749040" cy="329184"/>
          </a:xfrm>
          <a:prstGeom prst="rect">
            <a:avLst/>
          </a:prstGeom>
          <a:solidFill>
            <a:srgbClr val="E84040">
              <a:alpha val="50000"/>
            </a:srgbClr>
          </a:solidFill>
          <a:ln w="6350">
            <a:solidFill>
              <a:srgbClr val="E840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23697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Acquisition Cost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880360" y="323697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-KES 150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3749040" cy="329184"/>
          </a:xfrm>
          <a:prstGeom prst="rect">
            <a:avLst/>
          </a:prstGeom>
          <a:solidFill>
            <a:srgbClr val="E84040">
              <a:alpha val="40000"/>
            </a:srgbClr>
          </a:solidFill>
          <a:ln w="6350">
            <a:solidFill>
              <a:srgbClr val="E840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60273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 Cost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880360" y="360273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-KES 50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931920"/>
            <a:ext cx="3749040" cy="329184"/>
          </a:xfrm>
          <a:prstGeom prst="rect">
            <a:avLst/>
          </a:prstGeom>
          <a:solidFill>
            <a:srgbClr val="00D4A0"/>
          </a:solidFill>
          <a:ln w="6350">
            <a:solidFill>
              <a:srgbClr val="00D4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3968496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80360" y="396849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 630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0040" y="4343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Margin: 46.7%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343400" y="1024128"/>
            <a:ext cx="4526280" cy="3703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106070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Portfolio Projections  (KES Millions)</a:t>
            </a:r>
            <a:endParaRPr lang="en-US" sz="1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1371600"/>
          <a:ext cx="4434840" cy="277977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Originations (KES 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5,600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Loanbook (KES 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Revenue (KES 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Costs (KES 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(KES 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 (KES M)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Margin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5" name="Text 32"/>
          <p:cNvSpPr/>
          <p:nvPr/>
        </p:nvSpPr>
        <p:spPr>
          <a:xfrm>
            <a:off x="4389120" y="4370832"/>
            <a:ext cx="4434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 monthly origination growth  |  30% corporate tax  |  6% origination fee  |  30% APR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RETURNS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IRR, MOIC and Capital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2606040" cy="3703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0704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Structure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408176"/>
            <a:ext cx="1691640" cy="1005840"/>
          </a:xfrm>
          <a:prstGeom prst="rect">
            <a:avLst/>
          </a:prstGeom>
          <a:solidFill>
            <a:srgbClr val="00D4A0">
              <a:alpha val="85000"/>
            </a:srgbClr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408176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
</a:t>
            </a:r>
            <a:endParaRPr lang="en-US" sz="11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50592"/>
            <a:ext cx="1691640" cy="1828800"/>
          </a:xfrm>
          <a:prstGeom prst="rect">
            <a:avLst/>
          </a:prstGeom>
          <a:solidFill>
            <a:srgbClr val="3A7BD5">
              <a:alpha val="70000"/>
            </a:srgbClr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50592"/>
            <a:ext cx="1691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Facility
</a:t>
            </a:r>
            <a:endParaRPr lang="en-US" sz="11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
</a:t>
            </a:r>
            <a:endParaRPr lang="en-US" sz="11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 14% p.a.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33425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First-loss equity absorbs downside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facility funds portfolio growth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063240" y="1024128"/>
            <a:ext cx="3063240" cy="3703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060704"/>
            <a:ext cx="2971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Metrics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108960" y="1371600"/>
          <a:ext cx="2926080" cy="2304288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IRR (base 8x)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102.4%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IRR (conservative 5x)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IRR (after 30% tax)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MOIC (base 8x)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MOIC (conservative 5x)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~5.0x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Payback Period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3 exit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3108960" y="3657600"/>
            <a:ext cx="2926080" cy="1005840"/>
          </a:xfrm>
          <a:prstGeom prst="rect">
            <a:avLst/>
          </a:prstGeom>
          <a:solidFill>
            <a:srgbClr val="0F1420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200400" y="369417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on Base Case IRR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200400" y="3913632"/>
            <a:ext cx="274320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102% IRR reflects 6% origination fee on 3-month loans annualised to 24%. Conservative 5x exit produces ~60% — still 2.4x above the 25% hurdle. Sensitivity tested from 4x to 8x — all clear the hurdle.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6309360" y="1024128"/>
            <a:ext cx="2560320" cy="3703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106070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Cashflow Timeline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446520" y="2871216"/>
            <a:ext cx="2286000" cy="0"/>
          </a:xfrm>
          <a:prstGeom prst="line">
            <a:avLst/>
          </a:prstGeom>
          <a:noFill/>
          <a:ln w="15240">
            <a:solidFill>
              <a:srgbClr val="3A7BD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01968" y="2633472"/>
            <a:ext cx="0" cy="475488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537960" y="2788920"/>
            <a:ext cx="201168" cy="201168"/>
          </a:xfrm>
          <a:prstGeom prst="ellipse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232257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492240" y="3035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0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7168896" y="2633472"/>
            <a:ext cx="0" cy="475488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104888" y="2788920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059168" y="232257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NI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7059168" y="3035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735824" y="2633472"/>
            <a:ext cx="0" cy="475488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671816" y="2788920"/>
            <a:ext cx="201168" cy="201168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26096" y="232257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NI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626096" y="3035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8302752" y="2633472"/>
            <a:ext cx="0" cy="475488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238744" y="2788920"/>
            <a:ext cx="201168" cy="201168"/>
          </a:xfrm>
          <a:prstGeom prst="ellipse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193024" y="232257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+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Dividends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8193024" y="30358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6355080" y="34015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concentrated at exit.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0.19x — exit covenant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protections recommended.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40" name="Text 37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Historical Scenarios  |  Kenya Macro Events 2008–2024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2057400" cy="3730752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2057400" cy="10972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170432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444752"/>
            <a:ext cx="1911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2024 Baseline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11480" y="1737360"/>
            <a:ext cx="178308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810512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7472" y="2066544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PD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2286000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44.5%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" y="2542032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2761488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" y="3017520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APR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11480" y="3273552"/>
            <a:ext cx="178308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328416"/>
            <a:ext cx="1911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102.4%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7472" y="3712464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IRR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4498848"/>
            <a:ext cx="2057400" cy="2743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4988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487168" y="1024128"/>
            <a:ext cx="2057400" cy="3730752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87168" y="1024128"/>
            <a:ext cx="2057400" cy="109728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0" y="1170432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Recession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560320" y="1444752"/>
            <a:ext cx="1911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2017 — Drought + Election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624328" y="1737360"/>
            <a:ext cx="178308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1810512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14.6%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560320" y="2066544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2560320" y="2286000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44.5%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560320" y="2542032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60320" y="2761488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2560320" y="3017520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APR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624328" y="3273552"/>
            <a:ext cx="178308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60320" y="3328416"/>
            <a:ext cx="1911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57.5%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2560320" y="3712464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IRR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487168" y="4498848"/>
            <a:ext cx="2057400" cy="27432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87168" y="44988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00016" y="1024128"/>
            <a:ext cx="2057400" cy="3730752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00016" y="1024128"/>
            <a:ext cx="2057400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73168" y="1170432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Recession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73168" y="1444752"/>
            <a:ext cx="1911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2008 — Post-Election Crisis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37176" y="1737360"/>
            <a:ext cx="178308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73168" y="1810512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23.5%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4773168" y="2066544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PD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773168" y="2286000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54.5%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773168" y="2542032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4773168" y="2761488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31.7%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773168" y="3017520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APR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37176" y="3273552"/>
            <a:ext cx="178308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73168" y="3328416"/>
            <a:ext cx="1911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27.2%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4773168" y="3712464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IRR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773168" y="3877056"/>
            <a:ext cx="1911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0.2pp above 25% hurdle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700016" y="4498848"/>
            <a:ext cx="2057400" cy="2743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00016" y="44988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912864" y="1024128"/>
            <a:ext cx="2057400" cy="3730752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12864" y="1024128"/>
            <a:ext cx="2057400" cy="1097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86016" y="1170432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Cap Shock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86016" y="1444752"/>
            <a:ext cx="19110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2016 — Rate Cap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050024" y="1737360"/>
            <a:ext cx="178308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86016" y="1810512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8.2%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986016" y="2066544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PD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6986016" y="2286000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44.5%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986016" y="2542032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6986016" y="2761488"/>
            <a:ext cx="1911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986016" y="3017520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APR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050024" y="3273552"/>
            <a:ext cx="178308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986016" y="3328416"/>
            <a:ext cx="191109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76.5%</a:t>
            </a:r>
            <a:endParaRPr lang="en-US" sz="2600" dirty="0"/>
          </a:p>
        </p:txBody>
      </p:sp>
      <p:sp>
        <p:nvSpPr>
          <p:cNvPr id="67" name="Text 65"/>
          <p:cNvSpPr/>
          <p:nvPr/>
        </p:nvSpPr>
        <p:spPr>
          <a:xfrm>
            <a:off x="6986016" y="3712464"/>
            <a:ext cx="19110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IRR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986016" y="3877056"/>
            <a:ext cx="191109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fee protects margin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6912864" y="4498848"/>
            <a:ext cx="2057400" cy="2743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912864" y="4498848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MANAGEABLE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274320" y="43708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elasticities from 10 years of CBK NPL data  |  Unemployment: 0.18  |  Inflation: 0.08  |  Policy Rate: 0.12  |  Exit sensitivity 4x–8x: all clear 25% hurdle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RISK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  |  10,000 Paths  |  Kenya Historical Distributions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5394960" cy="3703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>
              <a:solidFill>
                <a:srgbClr val="6A789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C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stress_test_summary.png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1C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outputs/charts/</a:t>
            </a:r>
            <a:endParaRPr lang="en-US" sz="1000" dirty="0"/>
          </a:p>
          <a:p>
            <a:pPr marL="0" indent="0" algn="ctr">
              <a:buNone/>
            </a:pP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1C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Monte Carlo distribution panel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1C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(bottom left of 4-panel chart)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1C2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export Monte Carlo sheet from Tableau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" y="1060704"/>
            <a:ext cx="52486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 Distribution — 10,000 Monte Carlo Simulations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4535424"/>
            <a:ext cx="228600" cy="128016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5171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Grade (&gt;25% hurdle)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17520" y="4535424"/>
            <a:ext cx="228600" cy="1280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4517136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floor (&lt;25% hurdle)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5852160" y="1024128"/>
            <a:ext cx="3017520" cy="585216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52160" y="1024128"/>
            <a:ext cx="64008" cy="585216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078992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040880" y="1106424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IRR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40880" y="1325880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performance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52160" y="1673352"/>
            <a:ext cx="3017520" cy="585216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1673352"/>
            <a:ext cx="64008" cy="58521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728216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40880" y="1755648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5th Percentile IRR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40880" y="1975104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5% of scenarios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852160" y="2322576"/>
            <a:ext cx="3017520" cy="585216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52160" y="2322576"/>
            <a:ext cx="64008" cy="585216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89320" y="2377440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040880" y="2404872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Loss Prob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040880" y="2624328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10,000 paths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52160" y="2971800"/>
            <a:ext cx="3017520" cy="585216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0" y="2971800"/>
            <a:ext cx="64008" cy="585216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026664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040880" y="3054096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IRR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32735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single simulation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852160" y="3621024"/>
            <a:ext cx="3017520" cy="585216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852160" y="3621024"/>
            <a:ext cx="64008" cy="585216"/>
          </a:xfrm>
          <a:prstGeom prst="rect">
            <a:avLst/>
          </a:prstGeom>
          <a:solidFill>
            <a:srgbClr val="C8D4F0"/>
          </a:solidFill>
          <a:ln w="12700">
            <a:solidFill>
              <a:srgbClr val="C8D4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3675888"/>
            <a:ext cx="1005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040880" y="3703320"/>
            <a:ext cx="1691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Simulations Run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040880" y="3922776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macro distributions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852160" y="4315968"/>
            <a:ext cx="3017520" cy="475488"/>
          </a:xfrm>
          <a:prstGeom prst="rect">
            <a:avLst/>
          </a:prstGeom>
          <a:solidFill>
            <a:srgbClr val="0F1420"/>
          </a:solidFill>
          <a:ln w="9525">
            <a:solidFill>
              <a:srgbClr val="00D4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0" y="43434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of 10,000 simulations produced a capital loss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43600" y="4572000"/>
            <a:ext cx="28346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across all historically plausible Kenya macro scenarios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37EB64E7-E382-C745-F6A9-A1E3852A4E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13" t="6433" r="48223" b="46410"/>
          <a:stretch>
            <a:fillRect/>
          </a:stretch>
        </p:blipFill>
        <p:spPr>
          <a:xfrm>
            <a:off x="365760" y="1328737"/>
            <a:ext cx="5230369" cy="30923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 Factors and Mitigants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4251960" cy="182880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24128"/>
            <a:ext cx="64008" cy="1828800"/>
          </a:xfrm>
          <a:prstGeom prst="rect">
            <a:avLst/>
          </a:prstGeom>
          <a:solidFill>
            <a:srgbClr val="E84040"/>
          </a:solidFill>
          <a:ln w="12700">
            <a:solidFill>
              <a:srgbClr val="E840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33856"/>
            <a:ext cx="1097280" cy="256032"/>
          </a:xfrm>
          <a:prstGeom prst="rect">
            <a:avLst/>
          </a:prstGeom>
          <a:solidFill>
            <a:srgbClr val="0A0D14"/>
          </a:solidFill>
          <a:ln w="9525">
            <a:solidFill>
              <a:srgbClr val="E84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33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38912" y="1444752"/>
            <a:ext cx="39776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cap risk — 2016 precedent exists. APR Cap scenario IRR 76.5% — still above hurdle under 8pp cap.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CBK licensing now mandatory. Licence is a barrier to entry for competitors once obtained.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38912" y="2459736"/>
            <a:ext cx="393192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5054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</a:t>
            </a: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Origination fee structure not subject to rate cap regulation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754880" y="1024128"/>
            <a:ext cx="4251960" cy="182880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024128"/>
            <a:ext cx="64008" cy="1828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1155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133856"/>
            <a:ext cx="1097280" cy="256032"/>
          </a:xfrm>
          <a:prstGeom prst="rect">
            <a:avLst/>
          </a:prstGeom>
          <a:solidFill>
            <a:srgbClr val="0A0D14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133856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19472" y="1444752"/>
            <a:ext cx="39776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subprime allocation creates loss volatility risk.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on non-Kenya data. Behavioural features not fully transferable without CRB validation.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First-cycle borrower adverse selection is a known risk.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919472" y="2459736"/>
            <a:ext cx="393192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505456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</a:t>
            </a: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Kenya-native model recalibration after 12 months operational data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4251960" cy="182880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926080"/>
            <a:ext cx="64008" cy="18288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035808"/>
            <a:ext cx="1097280" cy="256032"/>
          </a:xfrm>
          <a:prstGeom prst="rect">
            <a:avLst/>
          </a:prstGeom>
          <a:solidFill>
            <a:srgbClr val="0A0D14"/>
          </a:solidFill>
          <a:ln w="9525">
            <a:solidFill>
              <a:srgbClr val="F0A5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0358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38912" y="3346704"/>
            <a:ext cx="39776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infrastructure must scale with portfolio. Failure to build collections capability is the most common failure mode in African digital lending.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fraud and synthetic identity risk increases at scale.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38912" y="4361688"/>
            <a:ext cx="393192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4074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</a:t>
            </a: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technology audit required pre-close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4251960" cy="182880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54880" y="2926080"/>
            <a:ext cx="64008" cy="18288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Risk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3035808"/>
            <a:ext cx="1097280" cy="256032"/>
          </a:xfrm>
          <a:prstGeom prst="rect">
            <a:avLst/>
          </a:prstGeom>
          <a:solidFill>
            <a:srgbClr val="0A0D14"/>
          </a:solidFill>
          <a:ln w="9525">
            <a:solidFill>
              <a:srgbClr val="3A7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30358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A7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919472" y="3346704"/>
            <a:ext cx="397764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Tala, Branch, Fuliza and Hustler Fund compete in target segments. Hustler Fund (zero interest) is disruptive in subprime.</a:t>
            </a:r>
            <a:endParaRPr lang="en-US" sz="800" dirty="0"/>
          </a:p>
          <a:p>
            <a:pPr marL="0" indent="0">
              <a:buNone/>
            </a:pP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API dependency — Safaricom data access not guaranteed in perpetuity.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919472" y="4361688"/>
            <a:ext cx="3931920" cy="0"/>
          </a:xfrm>
          <a:prstGeom prst="line">
            <a:avLst/>
          </a:prstGeom>
          <a:noFill/>
          <a:ln w="6350">
            <a:solidFill>
              <a:srgbClr val="1C23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19472" y="44074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Mitigant: </a:t>
            </a:r>
            <a:r>
              <a:rPr lang="en-US" sz="8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on speed, limit size and credit graduation — not price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D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DECISION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274320" y="402336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  |  6 Criteria  |  Recommendation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32688"/>
            <a:ext cx="8595360" cy="0"/>
          </a:xfrm>
          <a:prstGeom prst="line">
            <a:avLst/>
          </a:prstGeom>
          <a:noFill/>
          <a:ln w="9525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24128"/>
            <a:ext cx="5029200" cy="3703320"/>
          </a:xfrm>
          <a:prstGeom prst="rect">
            <a:avLst/>
          </a:prstGeom>
          <a:solidFill>
            <a:srgbClr val="0F1420"/>
          </a:solidFill>
          <a:ln w="9525">
            <a:solidFill>
              <a:srgbClr val="1C23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60704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Criteria Assessment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71600"/>
          <a:ext cx="4846320" cy="268833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8F0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IRR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A78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86.7% median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Recession IRR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A78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65.1% at P5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 Loss Prob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A78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A78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2.5x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8.0x / ~5.0x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A78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0.5x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0A5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C8D4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 1 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6A789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 22M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D4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C23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47472" y="41696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failure reflects deliberate reinvestment strategy — not a business model concern. Exit covenant protections recommended.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5532120" y="1024128"/>
            <a:ext cx="3337560" cy="1417320"/>
          </a:xfrm>
          <a:prstGeom prst="rect">
            <a:avLst/>
          </a:prstGeom>
          <a:solidFill>
            <a:srgbClr val="0F1420"/>
          </a:solidFill>
          <a:ln w="9525">
            <a:solidFill>
              <a:srgbClr val="00D4A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32120" y="1024128"/>
            <a:ext cx="3337560" cy="91440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577840" y="113385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RECOMMEND: INVEST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577840" y="159105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 6 criteria pass</a:t>
            </a:r>
            <a:endParaRPr lang="en-US" sz="1000" dirty="0"/>
          </a:p>
        </p:txBody>
      </p:sp>
      <p:sp>
        <p:nvSpPr>
          <p:cNvPr id="7" name="Text 10"/>
          <p:cNvSpPr/>
          <p:nvPr/>
        </p:nvSpPr>
        <p:spPr>
          <a:xfrm>
            <a:off x="5577840" y="1810512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A7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DPI noted — exit protections required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532120" y="2578608"/>
            <a:ext cx="3337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Conditions Before Close: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532120" y="2907792"/>
            <a:ext cx="256032" cy="256032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290779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852160" y="290779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CBK Licence Confirmed — </a:t>
            </a: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Credit Provider licence active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32120" y="3273552"/>
            <a:ext cx="256032" cy="256032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327355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852160" y="327355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API Rights — </a:t>
            </a: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sharing rights confirmed with Safaricom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5532120" y="3639312"/>
            <a:ext cx="256032" cy="256032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36393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852160" y="363931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Trigger Covenant — </a:t>
            </a: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Pre-agreed conditions for sale / secondary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532120" y="4005072"/>
            <a:ext cx="256032" cy="256032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532120" y="400507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5852160" y="400507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Audit — </a:t>
            </a: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review of tech and recovery rates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532120" y="4370832"/>
            <a:ext cx="256032" cy="256032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32120" y="43708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5852160" y="4370832"/>
            <a:ext cx="2971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Recalibration — </a:t>
            </a:r>
            <a:r>
              <a:rPr lang="en-US" sz="8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Kenya-native PD model after 12 months data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5532120" y="4639687"/>
            <a:ext cx="3337560" cy="256032"/>
          </a:xfrm>
          <a:prstGeom prst="rect">
            <a:avLst/>
          </a:prstGeom>
          <a:solidFill>
            <a:srgbClr val="00D4A0"/>
          </a:solidFill>
          <a:ln w="12700">
            <a:solidFill>
              <a:srgbClr val="00D4A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532120" y="462917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Kenya digital lending opportunity is real. We invest.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0" y="4895718"/>
            <a:ext cx="9144000" cy="247781"/>
          </a:xfrm>
          <a:prstGeom prst="rect">
            <a:avLst/>
          </a:prstGeom>
          <a:solidFill>
            <a:srgbClr val="0F1420"/>
          </a:solidFill>
          <a:ln w="12700">
            <a:solidFill>
              <a:srgbClr val="0F142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2880" y="482803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Digital Lending — Investment Due Diligence  |  February 2026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686800" y="48280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4A5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1803</Words>
  <Application>Microsoft Office PowerPoint</Application>
  <PresentationFormat>On-screen Show (16:9)</PresentationFormat>
  <Paragraphs>431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Kenya Digital Lending — Investment Due Diligence</dc:title>
  <dc:subject>PptxGenJS Presentation</dc:subject>
  <dc:creator>Geoffrey Mutuku</dc:creator>
  <cp:lastModifiedBy>Jeff Mutuku</cp:lastModifiedBy>
  <cp:revision>2</cp:revision>
  <dcterms:created xsi:type="dcterms:W3CDTF">2026-03-05T04:17:35Z</dcterms:created>
  <dcterms:modified xsi:type="dcterms:W3CDTF">2026-03-05T04:35:55Z</dcterms:modified>
</cp:coreProperties>
</file>