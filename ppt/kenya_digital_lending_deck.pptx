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63A856A-0E42-4943-8640-E0C2A1199798}">
  <a:tblStyle styleId="{163A856A-0E42-4943-8640-E0C2A1199798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54" y="4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9" name="Google Shape;23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1" name="Google Shape;27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7" name="Google Shape;36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0" name="Google Shape;44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4" name="Google Shape;484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Google Shape;517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8" name="Google Shape;51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1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1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10" Type="http://schemas.openxmlformats.org/officeDocument/2006/relationships/image" Target="../media/image41.png"/><Relationship Id="rId4" Type="http://schemas.openxmlformats.org/officeDocument/2006/relationships/image" Target="../media/image35.png"/><Relationship Id="rId9" Type="http://schemas.openxmlformats.org/officeDocument/2006/relationships/image" Target="../media/image4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1.pn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1.png"/><Relationship Id="rId7" Type="http://schemas.openxmlformats.org/officeDocument/2006/relationships/image" Target="../media/image5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11" Type="http://schemas.openxmlformats.org/officeDocument/2006/relationships/image" Target="../media/image55.png"/><Relationship Id="rId5" Type="http://schemas.openxmlformats.org/officeDocument/2006/relationships/image" Target="../media/image49.png"/><Relationship Id="rId10" Type="http://schemas.openxmlformats.org/officeDocument/2006/relationships/image" Target="../media/image54.png"/><Relationship Id="rId4" Type="http://schemas.openxmlformats.org/officeDocument/2006/relationships/image" Target="../media/image48.png"/><Relationship Id="rId9" Type="http://schemas.openxmlformats.org/officeDocument/2006/relationships/image" Target="../media/image5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65.png"/><Relationship Id="rId3" Type="http://schemas.openxmlformats.org/officeDocument/2006/relationships/image" Target="../media/image1.png"/><Relationship Id="rId7" Type="http://schemas.openxmlformats.org/officeDocument/2006/relationships/image" Target="../media/image59.png"/><Relationship Id="rId12" Type="http://schemas.openxmlformats.org/officeDocument/2006/relationships/image" Target="../media/image6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png"/><Relationship Id="rId11" Type="http://schemas.openxmlformats.org/officeDocument/2006/relationships/image" Target="../media/image63.png"/><Relationship Id="rId5" Type="http://schemas.openxmlformats.org/officeDocument/2006/relationships/image" Target="../media/image57.png"/><Relationship Id="rId10" Type="http://schemas.openxmlformats.org/officeDocument/2006/relationships/image" Target="../media/image62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638925"/>
            <a:ext cx="1219200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76750" y="4415730"/>
            <a:ext cx="2624528" cy="428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781925" y="5991225"/>
            <a:ext cx="1257300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144000" y="5991225"/>
            <a:ext cx="1257300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506075" y="5991225"/>
            <a:ext cx="1257300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3"/>
          <p:cNvSpPr txBox="1"/>
          <p:nvPr/>
        </p:nvSpPr>
        <p:spPr>
          <a:xfrm>
            <a:off x="428625" y="542925"/>
            <a:ext cx="3130748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CONFIDENTIAL — INVESTMENT COMMITTEE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2501354" y="2514600"/>
            <a:ext cx="7189142" cy="1005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Kenya Digital Consumer Lending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3600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 Investment Due Diligence</a:t>
            </a:r>
            <a:endParaRPr/>
          </a:p>
        </p:txBody>
      </p:sp>
      <p:sp>
        <p:nvSpPr>
          <p:cNvPr id="91" name="Google Shape;91;p13"/>
          <p:cNvSpPr/>
          <p:nvPr/>
        </p:nvSpPr>
        <p:spPr>
          <a:xfrm>
            <a:off x="4657725" y="3663255"/>
            <a:ext cx="2876550" cy="57150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3"/>
          <p:cNvSpPr txBox="1"/>
          <p:nvPr/>
        </p:nvSpPr>
        <p:spPr>
          <a:xfrm>
            <a:off x="4040981" y="3901380"/>
            <a:ext cx="4109888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Full Investment Memorandum | February 2026</a:t>
            </a:r>
            <a:endParaRPr/>
          </a:p>
        </p:txBody>
      </p:sp>
      <p:sp>
        <p:nvSpPr>
          <p:cNvPr id="93" name="Google Shape;93;p13"/>
          <p:cNvSpPr txBox="1"/>
          <p:nvPr/>
        </p:nvSpPr>
        <p:spPr>
          <a:xfrm>
            <a:off x="428625" y="6019800"/>
            <a:ext cx="194563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Geoffrey Mutuku</a:t>
            </a:r>
            <a:endParaRPr/>
          </a:p>
        </p:txBody>
      </p:sp>
      <p:sp>
        <p:nvSpPr>
          <p:cNvPr id="94" name="Google Shape;94;p13"/>
          <p:cNvSpPr txBox="1"/>
          <p:nvPr/>
        </p:nvSpPr>
        <p:spPr>
          <a:xfrm>
            <a:off x="428625" y="6210300"/>
            <a:ext cx="194563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Investment Analyst | February 2026</a:t>
            </a:r>
            <a:endParaRPr/>
          </a:p>
        </p:txBody>
      </p:sp>
      <p:sp>
        <p:nvSpPr>
          <p:cNvPr id="95" name="Google Shape;95;p13"/>
          <p:cNvSpPr txBox="1"/>
          <p:nvPr/>
        </p:nvSpPr>
        <p:spPr>
          <a:xfrm>
            <a:off x="428625" y="6700837"/>
            <a:ext cx="2571750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Kenya Digital Lending — Investment Due Diligence | February 2026</a:t>
            </a:r>
            <a:endParaRPr/>
          </a:p>
        </p:txBody>
      </p:sp>
      <p:sp>
        <p:nvSpPr>
          <p:cNvPr id="96" name="Google Shape;96;p13"/>
          <p:cNvSpPr txBox="1"/>
          <p:nvPr/>
        </p:nvSpPr>
        <p:spPr>
          <a:xfrm>
            <a:off x="11715601" y="6700837"/>
            <a:ext cx="47773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97" name="Google Shape;97;p13"/>
          <p:cNvSpPr txBox="1"/>
          <p:nvPr/>
        </p:nvSpPr>
        <p:spPr>
          <a:xfrm>
            <a:off x="4495800" y="4149030"/>
            <a:ext cx="2624528" cy="6694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75" b="1" i="0" u="none" strike="noStrike" cap="none" dirty="0">
                <a:solidFill>
                  <a:srgbClr val="00D4A0"/>
                </a:solidFill>
                <a:latin typeface="Calibri"/>
                <a:ea typeface="Calibri"/>
                <a:cs typeface="Calibri"/>
                <a:sym typeface="Calibri"/>
              </a:rPr>
              <a:t>RECOMMENDATION: INVEST</a:t>
            </a:r>
            <a:endParaRPr dirty="0"/>
          </a:p>
        </p:txBody>
      </p:sp>
      <p:sp>
        <p:nvSpPr>
          <p:cNvPr id="98" name="Google Shape;98;p13"/>
          <p:cNvSpPr txBox="1"/>
          <p:nvPr/>
        </p:nvSpPr>
        <p:spPr>
          <a:xfrm>
            <a:off x="4495800" y="4825305"/>
            <a:ext cx="32004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 dirty="0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All three decision criteria pass | 10,000 Monte Carlo simulations</a:t>
            </a:r>
            <a:endParaRPr dirty="0"/>
          </a:p>
        </p:txBody>
      </p:sp>
      <p:sp>
        <p:nvSpPr>
          <p:cNvPr id="99" name="Google Shape;99;p13"/>
          <p:cNvSpPr txBox="1"/>
          <p:nvPr/>
        </p:nvSpPr>
        <p:spPr>
          <a:xfrm>
            <a:off x="8182570" y="6000750"/>
            <a:ext cx="456009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75" b="1" i="0" u="none" strike="noStrike" cap="none">
                <a:solidFill>
                  <a:srgbClr val="00D4A0"/>
                </a:solidFill>
                <a:latin typeface="Calibri"/>
                <a:ea typeface="Calibri"/>
                <a:cs typeface="Calibri"/>
                <a:sym typeface="Calibri"/>
              </a:rPr>
              <a:t>0.0%</a:t>
            </a:r>
            <a:endParaRPr/>
          </a:p>
        </p:txBody>
      </p:sp>
      <p:sp>
        <p:nvSpPr>
          <p:cNvPr id="100" name="Google Shape;100;p13"/>
          <p:cNvSpPr txBox="1"/>
          <p:nvPr/>
        </p:nvSpPr>
        <p:spPr>
          <a:xfrm>
            <a:off x="7996981" y="6229350"/>
            <a:ext cx="827037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Capital Loss Prob</a:t>
            </a:r>
            <a:endParaRPr/>
          </a:p>
        </p:txBody>
      </p:sp>
      <p:sp>
        <p:nvSpPr>
          <p:cNvPr id="101" name="Google Shape;101;p13"/>
          <p:cNvSpPr txBox="1"/>
          <p:nvPr/>
        </p:nvSpPr>
        <p:spPr>
          <a:xfrm>
            <a:off x="9488983" y="6000750"/>
            <a:ext cx="567183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75" b="1" i="0" u="none" strike="noStrike" cap="none">
                <a:solidFill>
                  <a:srgbClr val="00D4A0"/>
                </a:solidFill>
                <a:latin typeface="Calibri"/>
                <a:ea typeface="Calibri"/>
                <a:cs typeface="Calibri"/>
                <a:sym typeface="Calibri"/>
              </a:rPr>
              <a:t>86.7%</a:t>
            </a:r>
            <a:endParaRPr/>
          </a:p>
        </p:txBody>
      </p:sp>
      <p:sp>
        <p:nvSpPr>
          <p:cNvPr id="102" name="Google Shape;102;p13"/>
          <p:cNvSpPr txBox="1"/>
          <p:nvPr/>
        </p:nvSpPr>
        <p:spPr>
          <a:xfrm>
            <a:off x="9495978" y="6229350"/>
            <a:ext cx="553194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Median IRR</a:t>
            </a:r>
            <a:endParaRPr/>
          </a:p>
        </p:txBody>
      </p:sp>
      <p:sp>
        <p:nvSpPr>
          <p:cNvPr id="103" name="Google Shape;103;p13"/>
          <p:cNvSpPr txBox="1"/>
          <p:nvPr/>
        </p:nvSpPr>
        <p:spPr>
          <a:xfrm>
            <a:off x="10856714" y="6000750"/>
            <a:ext cx="556021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75" b="1" i="0" u="none" strike="noStrike" cap="non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19.2M</a:t>
            </a:r>
            <a:endParaRPr/>
          </a:p>
        </p:txBody>
      </p:sp>
      <p:sp>
        <p:nvSpPr>
          <p:cNvPr id="104" name="Google Shape;104;p13"/>
          <p:cNvSpPr txBox="1"/>
          <p:nvPr/>
        </p:nvSpPr>
        <p:spPr>
          <a:xfrm>
            <a:off x="10630941" y="6229350"/>
            <a:ext cx="1007566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Reachable Borrowers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638925"/>
            <a:ext cx="1219200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28625" y="952500"/>
            <a:ext cx="3708350" cy="4676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241750" y="952500"/>
            <a:ext cx="3708350" cy="4676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054875" y="952500"/>
            <a:ext cx="3708350" cy="4676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011263" y="1104900"/>
            <a:ext cx="542925" cy="542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24388" y="1104900"/>
            <a:ext cx="542925" cy="542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37514" y="1104900"/>
            <a:ext cx="542925" cy="542925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4"/>
          <p:cNvSpPr/>
          <p:nvPr/>
        </p:nvSpPr>
        <p:spPr>
          <a:xfrm>
            <a:off x="361950" y="647700"/>
            <a:ext cx="11468100" cy="9525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4"/>
          <p:cNvSpPr txBox="1"/>
          <p:nvPr/>
        </p:nvSpPr>
        <p:spPr>
          <a:xfrm>
            <a:off x="428625" y="142875"/>
            <a:ext cx="1133475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INVESTMENT OVERVIEW</a:t>
            </a:r>
            <a:endParaRPr/>
          </a:p>
        </p:txBody>
      </p:sp>
      <p:sp>
        <p:nvSpPr>
          <p:cNvPr id="118" name="Google Shape;118;p14"/>
          <p:cNvSpPr txBox="1"/>
          <p:nvPr/>
        </p:nvSpPr>
        <p:spPr>
          <a:xfrm>
            <a:off x="428625" y="285750"/>
            <a:ext cx="11334750" cy="3875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998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Three Reasons We Invest</a:t>
            </a:r>
            <a:endParaRPr/>
          </a:p>
        </p:txBody>
      </p:sp>
      <p:sp>
        <p:nvSpPr>
          <p:cNvPr id="119" name="Google Shape;119;p14"/>
          <p:cNvSpPr txBox="1"/>
          <p:nvPr/>
        </p:nvSpPr>
        <p:spPr>
          <a:xfrm>
            <a:off x="428625" y="6700837"/>
            <a:ext cx="2571750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Kenya Digital Lending — Investment Due Diligence | February 2026</a:t>
            </a:r>
            <a:endParaRPr/>
          </a:p>
        </p:txBody>
      </p:sp>
      <p:sp>
        <p:nvSpPr>
          <p:cNvPr id="120" name="Google Shape;120;p14"/>
          <p:cNvSpPr txBox="1"/>
          <p:nvPr/>
        </p:nvSpPr>
        <p:spPr>
          <a:xfrm>
            <a:off x="11715601" y="6700837"/>
            <a:ext cx="47773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21" name="Google Shape;121;p14"/>
          <p:cNvSpPr txBox="1"/>
          <p:nvPr/>
        </p:nvSpPr>
        <p:spPr>
          <a:xfrm>
            <a:off x="1694408" y="1752600"/>
            <a:ext cx="1176635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87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Infrastructure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2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 Already Built</a:t>
            </a:r>
            <a:endParaRPr/>
          </a:p>
        </p:txBody>
      </p:sp>
      <p:sp>
        <p:nvSpPr>
          <p:cNvPr id="122" name="Google Shape;122;p14"/>
          <p:cNvSpPr/>
          <p:nvPr/>
        </p:nvSpPr>
        <p:spPr>
          <a:xfrm>
            <a:off x="762000" y="2257425"/>
            <a:ext cx="3041600" cy="9525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4"/>
          <p:cNvSpPr txBox="1"/>
          <p:nvPr/>
        </p:nvSpPr>
        <p:spPr>
          <a:xfrm>
            <a:off x="1832074" y="2409825"/>
            <a:ext cx="901451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75" b="1" i="0" u="none" strike="noStrike" cap="none">
                <a:solidFill>
                  <a:srgbClr val="00D4A0"/>
                </a:solidFill>
                <a:latin typeface="Calibri"/>
                <a:ea typeface="Calibri"/>
                <a:cs typeface="Calibri"/>
                <a:sym typeface="Calibri"/>
              </a:rPr>
              <a:t>101%</a:t>
            </a:r>
            <a:endParaRPr/>
          </a:p>
        </p:txBody>
      </p:sp>
      <p:sp>
        <p:nvSpPr>
          <p:cNvPr id="124" name="Google Shape;124;p14"/>
          <p:cNvSpPr txBox="1"/>
          <p:nvPr/>
        </p:nvSpPr>
        <p:spPr>
          <a:xfrm>
            <a:off x="1590972" y="2857500"/>
            <a:ext cx="138365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M-Pesa adult penetration</a:t>
            </a:r>
            <a:endParaRPr/>
          </a:p>
        </p:txBody>
      </p:sp>
      <p:sp>
        <p:nvSpPr>
          <p:cNvPr id="125" name="Google Shape;125;p14"/>
          <p:cNvSpPr txBox="1"/>
          <p:nvPr/>
        </p:nvSpPr>
        <p:spPr>
          <a:xfrm>
            <a:off x="762000" y="3324225"/>
            <a:ext cx="3041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35.8M active M-Pesa users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processing KES 38,290B in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annual transaction value.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Digital distribution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infrastructure is already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built. A lender needs only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to plug in — not build.</a:t>
            </a:r>
            <a:endParaRPr/>
          </a:p>
        </p:txBody>
      </p:sp>
      <p:sp>
        <p:nvSpPr>
          <p:cNvPr id="126" name="Google Shape;126;p14"/>
          <p:cNvSpPr txBox="1"/>
          <p:nvPr/>
        </p:nvSpPr>
        <p:spPr>
          <a:xfrm>
            <a:off x="1569392" y="5362575"/>
            <a:ext cx="1426815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Source: Safaricom AR FY2025</a:t>
            </a:r>
            <a:endParaRPr/>
          </a:p>
        </p:txBody>
      </p:sp>
      <p:sp>
        <p:nvSpPr>
          <p:cNvPr id="127" name="Google Shape;127;p14"/>
          <p:cNvSpPr txBox="1"/>
          <p:nvPr/>
        </p:nvSpPr>
        <p:spPr>
          <a:xfrm>
            <a:off x="5567808" y="1752600"/>
            <a:ext cx="1056084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87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Credit Gap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2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 Is Structural</a:t>
            </a:r>
            <a:endParaRPr/>
          </a:p>
        </p:txBody>
      </p:sp>
      <p:sp>
        <p:nvSpPr>
          <p:cNvPr id="128" name="Google Shape;128;p14"/>
          <p:cNvSpPr/>
          <p:nvPr/>
        </p:nvSpPr>
        <p:spPr>
          <a:xfrm>
            <a:off x="4575125" y="2257425"/>
            <a:ext cx="3041600" cy="9525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4"/>
          <p:cNvSpPr txBox="1"/>
          <p:nvPr/>
        </p:nvSpPr>
        <p:spPr>
          <a:xfrm>
            <a:off x="5684639" y="2409825"/>
            <a:ext cx="822573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75" b="1" i="0" u="none" strike="noStrike" cap="non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58pp</a:t>
            </a:r>
            <a:endParaRPr/>
          </a:p>
        </p:txBody>
      </p:sp>
      <p:sp>
        <p:nvSpPr>
          <p:cNvPr id="130" name="Google Shape;130;p14"/>
          <p:cNvSpPr txBox="1"/>
          <p:nvPr/>
        </p:nvSpPr>
        <p:spPr>
          <a:xfrm>
            <a:off x="5102423" y="2857500"/>
            <a:ext cx="198685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Credit-to-GDP below global average</a:t>
            </a:r>
            <a:endParaRPr/>
          </a:p>
        </p:txBody>
      </p:sp>
      <p:sp>
        <p:nvSpPr>
          <p:cNvPr id="131" name="Google Shape;131;p14"/>
          <p:cNvSpPr txBox="1"/>
          <p:nvPr/>
        </p:nvSpPr>
        <p:spPr>
          <a:xfrm>
            <a:off x="4575125" y="3324225"/>
            <a:ext cx="3041600" cy="17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Kenya credit/GDP ~32% vs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global average ~90%.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19.2M adults are digitally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reachable and creditworthy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but have no formal credit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history.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This gap does not close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without a data-driven lender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willing to underwrite thin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files.</a:t>
            </a:r>
            <a:endParaRPr/>
          </a:p>
        </p:txBody>
      </p:sp>
      <p:sp>
        <p:nvSpPr>
          <p:cNvPr id="132" name="Google Shape;132;p14"/>
          <p:cNvSpPr txBox="1"/>
          <p:nvPr/>
        </p:nvSpPr>
        <p:spPr>
          <a:xfrm>
            <a:off x="5249614" y="5362575"/>
            <a:ext cx="1692622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Source: World Bank · IMF FAS 2021</a:t>
            </a:r>
            <a:endParaRPr/>
          </a:p>
        </p:txBody>
      </p:sp>
      <p:sp>
        <p:nvSpPr>
          <p:cNvPr id="133" name="Google Shape;133;p14"/>
          <p:cNvSpPr txBox="1"/>
          <p:nvPr/>
        </p:nvSpPr>
        <p:spPr>
          <a:xfrm>
            <a:off x="9394477" y="1752600"/>
            <a:ext cx="1029146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87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Returns Are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2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 Compelling</a:t>
            </a:r>
            <a:endParaRPr/>
          </a:p>
        </p:txBody>
      </p:sp>
      <p:sp>
        <p:nvSpPr>
          <p:cNvPr id="134" name="Google Shape;134;p14"/>
          <p:cNvSpPr/>
          <p:nvPr/>
        </p:nvSpPr>
        <p:spPr>
          <a:xfrm>
            <a:off x="8388250" y="2257425"/>
            <a:ext cx="3041600" cy="9525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4"/>
          <p:cNvSpPr txBox="1"/>
          <p:nvPr/>
        </p:nvSpPr>
        <p:spPr>
          <a:xfrm>
            <a:off x="9507289" y="2409825"/>
            <a:ext cx="803374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75" b="1" i="0" u="none" strike="noStrike" cap="none">
                <a:solidFill>
                  <a:srgbClr val="00D4A0"/>
                </a:solidFill>
                <a:latin typeface="Calibri"/>
                <a:ea typeface="Calibri"/>
                <a:cs typeface="Calibri"/>
                <a:sym typeface="Calibri"/>
              </a:rPr>
              <a:t>0.0%</a:t>
            </a:r>
            <a:endParaRPr/>
          </a:p>
        </p:txBody>
      </p:sp>
      <p:sp>
        <p:nvSpPr>
          <p:cNvPr id="136" name="Google Shape;136;p14"/>
          <p:cNvSpPr txBox="1"/>
          <p:nvPr/>
        </p:nvSpPr>
        <p:spPr>
          <a:xfrm>
            <a:off x="8676977" y="2857500"/>
            <a:ext cx="2463998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Capital loss probability — 10,000 simulations</a:t>
            </a:r>
            <a:endParaRPr/>
          </a:p>
        </p:txBody>
      </p:sp>
      <p:sp>
        <p:nvSpPr>
          <p:cNvPr id="137" name="Google Shape;137;p14"/>
          <p:cNvSpPr txBox="1"/>
          <p:nvPr/>
        </p:nvSpPr>
        <p:spPr>
          <a:xfrm>
            <a:off x="8388250" y="3324225"/>
            <a:ext cx="3041600" cy="1428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Median IRR 86.7%.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5th percentile IRR 65.1%.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All 10,000 Monte Carlo paths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produced positive returns.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Severe recession scenario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(Kenya 2008 equivalent)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produces 27.2% gross IRR —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above the 25% hurdle.</a:t>
            </a:r>
            <a:endParaRPr/>
          </a:p>
        </p:txBody>
      </p:sp>
      <p:sp>
        <p:nvSpPr>
          <p:cNvPr id="138" name="Google Shape;138;p14"/>
          <p:cNvSpPr txBox="1"/>
          <p:nvPr/>
        </p:nvSpPr>
        <p:spPr>
          <a:xfrm>
            <a:off x="9116913" y="5362575"/>
            <a:ext cx="1584275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Source: Notebook 04 Monte Carlo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638925"/>
            <a:ext cx="1219200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28625" y="952500"/>
            <a:ext cx="7245548" cy="4857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864673" y="952500"/>
            <a:ext cx="3419475" cy="1009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864673" y="2066925"/>
            <a:ext cx="3419475" cy="1009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864673" y="3181350"/>
            <a:ext cx="3419475" cy="1009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864673" y="4295775"/>
            <a:ext cx="3419475" cy="100965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15"/>
          <p:cNvSpPr/>
          <p:nvPr/>
        </p:nvSpPr>
        <p:spPr>
          <a:xfrm>
            <a:off x="361950" y="647700"/>
            <a:ext cx="11468100" cy="9525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5"/>
          <p:cNvSpPr txBox="1"/>
          <p:nvPr/>
        </p:nvSpPr>
        <p:spPr>
          <a:xfrm>
            <a:off x="428625" y="142875"/>
            <a:ext cx="1133475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MARKET CONTEXT</a:t>
            </a:r>
            <a:endParaRPr/>
          </a:p>
        </p:txBody>
      </p:sp>
      <p:sp>
        <p:nvSpPr>
          <p:cNvPr id="151" name="Google Shape;151;p15"/>
          <p:cNvSpPr txBox="1"/>
          <p:nvPr/>
        </p:nvSpPr>
        <p:spPr>
          <a:xfrm>
            <a:off x="428625" y="285750"/>
            <a:ext cx="11334750" cy="3875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998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Kenya Macroeconomic Environment | 2014–2025</a:t>
            </a:r>
            <a:endParaRPr/>
          </a:p>
        </p:txBody>
      </p:sp>
      <p:sp>
        <p:nvSpPr>
          <p:cNvPr id="152" name="Google Shape;152;p15"/>
          <p:cNvSpPr txBox="1"/>
          <p:nvPr/>
        </p:nvSpPr>
        <p:spPr>
          <a:xfrm>
            <a:off x="428625" y="6700837"/>
            <a:ext cx="2571750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Kenya Digital Lending — Investment Due Diligence | February 2026</a:t>
            </a:r>
            <a:endParaRPr/>
          </a:p>
        </p:txBody>
      </p:sp>
      <p:sp>
        <p:nvSpPr>
          <p:cNvPr id="153" name="Google Shape;153;p15"/>
          <p:cNvSpPr txBox="1"/>
          <p:nvPr/>
        </p:nvSpPr>
        <p:spPr>
          <a:xfrm>
            <a:off x="11715601" y="6700837"/>
            <a:ext cx="47773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54" name="Google Shape;154;p15"/>
          <p:cNvSpPr txBox="1"/>
          <p:nvPr/>
        </p:nvSpPr>
        <p:spPr>
          <a:xfrm>
            <a:off x="581025" y="1104900"/>
            <a:ext cx="6940748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Interest rates and NPL ratio | Jan 2014 – Nov 2025</a:t>
            </a:r>
            <a:endParaRPr/>
          </a:p>
        </p:txBody>
      </p:sp>
      <p:sp>
        <p:nvSpPr>
          <p:cNvPr id="155" name="Google Shape;155;p15"/>
          <p:cNvSpPr txBox="1"/>
          <p:nvPr/>
        </p:nvSpPr>
        <p:spPr>
          <a:xfrm>
            <a:off x="7864673" y="7439025"/>
            <a:ext cx="3898701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Sources: CBK Statistical Bulletin · World Bank Open Data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82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 Elasticities calibrated from this panel for stress model</a:t>
            </a:r>
            <a:endParaRPr/>
          </a:p>
        </p:txBody>
      </p:sp>
      <p:sp>
        <p:nvSpPr>
          <p:cNvPr id="156" name="Google Shape;156;p15"/>
          <p:cNvSpPr txBox="1"/>
          <p:nvPr/>
        </p:nvSpPr>
        <p:spPr>
          <a:xfrm>
            <a:off x="8064698" y="1266825"/>
            <a:ext cx="1130796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25" b="1" i="0" u="none" strike="noStrike" cap="none">
                <a:solidFill>
                  <a:srgbClr val="E84040"/>
                </a:solidFill>
                <a:latin typeface="Calibri"/>
                <a:ea typeface="Calibri"/>
                <a:cs typeface="Calibri"/>
                <a:sym typeface="Calibri"/>
              </a:rPr>
              <a:t>12.34%</a:t>
            </a:r>
            <a:endParaRPr/>
          </a:p>
        </p:txBody>
      </p:sp>
      <p:sp>
        <p:nvSpPr>
          <p:cNvPr id="157" name="Google Shape;157;p15"/>
          <p:cNvSpPr txBox="1"/>
          <p:nvPr/>
        </p:nvSpPr>
        <p:spPr>
          <a:xfrm>
            <a:off x="8064698" y="2381250"/>
            <a:ext cx="1143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25" b="1" i="0" u="none" strike="noStrike" cap="non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13.0%</a:t>
            </a:r>
            <a:endParaRPr/>
          </a:p>
        </p:txBody>
      </p:sp>
      <p:sp>
        <p:nvSpPr>
          <p:cNvPr id="158" name="Google Shape;158;p15"/>
          <p:cNvSpPr txBox="1"/>
          <p:nvPr/>
        </p:nvSpPr>
        <p:spPr>
          <a:xfrm>
            <a:off x="8064698" y="3495675"/>
            <a:ext cx="1143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25" b="1" i="0" u="none" strike="noStrike" cap="none">
                <a:solidFill>
                  <a:srgbClr val="00D4A0"/>
                </a:solidFill>
                <a:latin typeface="Calibri"/>
                <a:ea typeface="Calibri"/>
                <a:cs typeface="Calibri"/>
                <a:sym typeface="Calibri"/>
              </a:rPr>
              <a:t>8.5%</a:t>
            </a:r>
            <a:endParaRPr/>
          </a:p>
        </p:txBody>
      </p:sp>
      <p:sp>
        <p:nvSpPr>
          <p:cNvPr id="159" name="Google Shape;159;p15"/>
          <p:cNvSpPr txBox="1"/>
          <p:nvPr/>
        </p:nvSpPr>
        <p:spPr>
          <a:xfrm>
            <a:off x="8064698" y="4610100"/>
            <a:ext cx="1143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25" b="1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10yrs</a:t>
            </a:r>
            <a:endParaRPr/>
          </a:p>
        </p:txBody>
      </p:sp>
      <p:sp>
        <p:nvSpPr>
          <p:cNvPr id="160" name="Google Shape;160;p15"/>
          <p:cNvSpPr/>
          <p:nvPr/>
        </p:nvSpPr>
        <p:spPr>
          <a:xfrm>
            <a:off x="1758106" y="5538787"/>
            <a:ext cx="104775" cy="104775"/>
          </a:xfrm>
          <a:prstGeom prst="roundRect">
            <a:avLst>
              <a:gd name="adj" fmla="val 50000"/>
            </a:avLst>
          </a:prstGeom>
          <a:solidFill>
            <a:srgbClr val="00D4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5"/>
          <p:cNvSpPr txBox="1"/>
          <p:nvPr/>
        </p:nvSpPr>
        <p:spPr>
          <a:xfrm>
            <a:off x="1910506" y="5524500"/>
            <a:ext cx="679995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Lending Rate</a:t>
            </a:r>
            <a:endParaRPr/>
          </a:p>
        </p:txBody>
      </p:sp>
      <p:sp>
        <p:nvSpPr>
          <p:cNvPr id="162" name="Google Shape;162;p15"/>
          <p:cNvSpPr/>
          <p:nvPr/>
        </p:nvSpPr>
        <p:spPr>
          <a:xfrm>
            <a:off x="3767583" y="5538787"/>
            <a:ext cx="104775" cy="104775"/>
          </a:xfrm>
          <a:prstGeom prst="roundRect">
            <a:avLst>
              <a:gd name="adj" fmla="val 50000"/>
            </a:avLst>
          </a:prstGeom>
          <a:solidFill>
            <a:srgbClr val="F0A5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5"/>
          <p:cNvSpPr txBox="1"/>
          <p:nvPr/>
        </p:nvSpPr>
        <p:spPr>
          <a:xfrm>
            <a:off x="3919983" y="5524500"/>
            <a:ext cx="578197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Policy Rate</a:t>
            </a:r>
            <a:endParaRPr/>
          </a:p>
        </p:txBody>
      </p:sp>
      <p:sp>
        <p:nvSpPr>
          <p:cNvPr id="164" name="Google Shape;164;p15"/>
          <p:cNvSpPr/>
          <p:nvPr/>
        </p:nvSpPr>
        <p:spPr>
          <a:xfrm>
            <a:off x="5675262" y="5538787"/>
            <a:ext cx="104775" cy="104775"/>
          </a:xfrm>
          <a:prstGeom prst="roundRect">
            <a:avLst>
              <a:gd name="adj" fmla="val 50000"/>
            </a:avLst>
          </a:prstGeom>
          <a:solidFill>
            <a:srgbClr val="E840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5"/>
          <p:cNvSpPr txBox="1"/>
          <p:nvPr/>
        </p:nvSpPr>
        <p:spPr>
          <a:xfrm>
            <a:off x="5827662" y="5524500"/>
            <a:ext cx="516731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NPL Ratio</a:t>
            </a:r>
            <a:endParaRPr/>
          </a:p>
        </p:txBody>
      </p:sp>
      <p:sp>
        <p:nvSpPr>
          <p:cNvPr id="166" name="Google Shape;166;p15"/>
          <p:cNvSpPr txBox="1"/>
          <p:nvPr/>
        </p:nvSpPr>
        <p:spPr>
          <a:xfrm>
            <a:off x="9385994" y="1252537"/>
            <a:ext cx="1698128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NPL Ratio Peak</a:t>
            </a:r>
            <a:endParaRPr/>
          </a:p>
        </p:txBody>
      </p:sp>
      <p:sp>
        <p:nvSpPr>
          <p:cNvPr id="167" name="Google Shape;167;p15"/>
          <p:cNvSpPr txBox="1"/>
          <p:nvPr/>
        </p:nvSpPr>
        <p:spPr>
          <a:xfrm>
            <a:off x="9385994" y="1395412"/>
            <a:ext cx="1698128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2023 — post-COVID accumulation</a:t>
            </a:r>
            <a:endParaRPr/>
          </a:p>
        </p:txBody>
      </p:sp>
      <p:sp>
        <p:nvSpPr>
          <p:cNvPr id="168" name="Google Shape;168;p15"/>
          <p:cNvSpPr txBox="1"/>
          <p:nvPr/>
        </p:nvSpPr>
        <p:spPr>
          <a:xfrm>
            <a:off x="9398198" y="2433637"/>
            <a:ext cx="1486792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Policy Rate Peak</a:t>
            </a:r>
            <a:endParaRPr/>
          </a:p>
        </p:txBody>
      </p:sp>
      <p:sp>
        <p:nvSpPr>
          <p:cNvPr id="169" name="Google Shape;169;p15"/>
          <p:cNvSpPr txBox="1"/>
          <p:nvPr/>
        </p:nvSpPr>
        <p:spPr>
          <a:xfrm>
            <a:off x="9398198" y="2576512"/>
            <a:ext cx="1486792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2023 — CBK tightening cycle</a:t>
            </a:r>
            <a:endParaRPr/>
          </a:p>
        </p:txBody>
      </p:sp>
      <p:sp>
        <p:nvSpPr>
          <p:cNvPr id="170" name="Google Shape;170;p15"/>
          <p:cNvSpPr txBox="1"/>
          <p:nvPr/>
        </p:nvSpPr>
        <p:spPr>
          <a:xfrm>
            <a:off x="9398198" y="3548062"/>
            <a:ext cx="1245096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Policy Rate Floor</a:t>
            </a:r>
            <a:endParaRPr/>
          </a:p>
        </p:txBody>
      </p:sp>
      <p:sp>
        <p:nvSpPr>
          <p:cNvPr id="171" name="Google Shape;171;p15"/>
          <p:cNvSpPr txBox="1"/>
          <p:nvPr/>
        </p:nvSpPr>
        <p:spPr>
          <a:xfrm>
            <a:off x="9398198" y="3690937"/>
            <a:ext cx="1245096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2020 — COVID stimulus</a:t>
            </a:r>
            <a:endParaRPr/>
          </a:p>
        </p:txBody>
      </p:sp>
      <p:sp>
        <p:nvSpPr>
          <p:cNvPr id="172" name="Google Shape;172;p15"/>
          <p:cNvSpPr txBox="1"/>
          <p:nvPr/>
        </p:nvSpPr>
        <p:spPr>
          <a:xfrm>
            <a:off x="9398198" y="4662487"/>
            <a:ext cx="1582191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Historical Data Panel</a:t>
            </a:r>
            <a:endParaRPr/>
          </a:p>
        </p:txBody>
      </p:sp>
      <p:sp>
        <p:nvSpPr>
          <p:cNvPr id="173" name="Google Shape;173;p15"/>
          <p:cNvSpPr txBox="1"/>
          <p:nvPr/>
        </p:nvSpPr>
        <p:spPr>
          <a:xfrm>
            <a:off x="9398198" y="4805362"/>
            <a:ext cx="1582191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143 monthly observations used</a:t>
            </a: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024D02-2C30-8936-31C1-3090261ED40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1025" y="1238250"/>
            <a:ext cx="6978847" cy="42243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638925"/>
            <a:ext cx="1219200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28625" y="3067050"/>
            <a:ext cx="11334750" cy="3505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28625" y="809625"/>
            <a:ext cx="3708350" cy="2152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241750" y="809625"/>
            <a:ext cx="3708350" cy="2152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054875" y="809625"/>
            <a:ext cx="3708350" cy="215265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16"/>
          <p:cNvSpPr/>
          <p:nvPr/>
        </p:nvSpPr>
        <p:spPr>
          <a:xfrm>
            <a:off x="361950" y="647700"/>
            <a:ext cx="11468100" cy="9525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6"/>
          <p:cNvSpPr txBox="1"/>
          <p:nvPr/>
        </p:nvSpPr>
        <p:spPr>
          <a:xfrm>
            <a:off x="428625" y="142875"/>
            <a:ext cx="1133475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MARKET CONTEXT</a:t>
            </a:r>
            <a:endParaRPr/>
          </a:p>
        </p:txBody>
      </p:sp>
      <p:sp>
        <p:nvSpPr>
          <p:cNvPr id="185" name="Google Shape;185;p16"/>
          <p:cNvSpPr txBox="1"/>
          <p:nvPr/>
        </p:nvSpPr>
        <p:spPr>
          <a:xfrm>
            <a:off x="428625" y="285750"/>
            <a:ext cx="11334750" cy="3875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998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M-Pesa Ecosystem | The Distribution Advantage</a:t>
            </a:r>
            <a:endParaRPr/>
          </a:p>
        </p:txBody>
      </p:sp>
      <p:sp>
        <p:nvSpPr>
          <p:cNvPr id="186" name="Google Shape;186;p16"/>
          <p:cNvSpPr txBox="1"/>
          <p:nvPr/>
        </p:nvSpPr>
        <p:spPr>
          <a:xfrm>
            <a:off x="428625" y="6700837"/>
            <a:ext cx="2571750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Kenya Digital Lending — Investment Due Diligence | February 2026</a:t>
            </a:r>
            <a:endParaRPr/>
          </a:p>
        </p:txBody>
      </p:sp>
      <p:sp>
        <p:nvSpPr>
          <p:cNvPr id="187" name="Google Shape;187;p16"/>
          <p:cNvSpPr txBox="1"/>
          <p:nvPr/>
        </p:nvSpPr>
        <p:spPr>
          <a:xfrm>
            <a:off x="11715601" y="6700837"/>
            <a:ext cx="47773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88" name="Google Shape;188;p16"/>
          <p:cNvSpPr txBox="1"/>
          <p:nvPr/>
        </p:nvSpPr>
        <p:spPr>
          <a:xfrm>
            <a:off x="581026" y="3219450"/>
            <a:ext cx="24193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 dirty="0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M-Pesa Growth FY2020–FY2025 |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 dirty="0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Transaction value (bars) vs Active customers (line)</a:t>
            </a:r>
            <a:endParaRPr dirty="0"/>
          </a:p>
        </p:txBody>
      </p:sp>
      <p:sp>
        <p:nvSpPr>
          <p:cNvPr id="189" name="Google Shape;189;p16"/>
          <p:cNvSpPr txBox="1"/>
          <p:nvPr/>
        </p:nvSpPr>
        <p:spPr>
          <a:xfrm>
            <a:off x="9182248" y="5314950"/>
            <a:ext cx="2428726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Source: Safaricom Annual Reports FY2020–FY2025</a:t>
            </a:r>
            <a:endParaRPr/>
          </a:p>
        </p:txBody>
      </p:sp>
      <p:sp>
        <p:nvSpPr>
          <p:cNvPr id="190" name="Google Shape;190;p16"/>
          <p:cNvSpPr txBox="1"/>
          <p:nvPr/>
        </p:nvSpPr>
        <p:spPr>
          <a:xfrm>
            <a:off x="628650" y="1304925"/>
            <a:ext cx="3308300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TRANSACTION VALUE FY2025</a:t>
            </a:r>
            <a:endParaRPr/>
          </a:p>
        </p:txBody>
      </p:sp>
      <p:sp>
        <p:nvSpPr>
          <p:cNvPr id="191" name="Google Shape;191;p16"/>
          <p:cNvSpPr txBox="1"/>
          <p:nvPr/>
        </p:nvSpPr>
        <p:spPr>
          <a:xfrm>
            <a:off x="628650" y="1581150"/>
            <a:ext cx="3308300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25" b="1" i="0" u="none" strike="noStrike" cap="none">
                <a:solidFill>
                  <a:srgbClr val="00D4A0"/>
                </a:solidFill>
                <a:latin typeface="Calibri"/>
                <a:ea typeface="Calibri"/>
                <a:cs typeface="Calibri"/>
                <a:sym typeface="Calibri"/>
              </a:rPr>
              <a:t>KES 38,290B</a:t>
            </a:r>
            <a:endParaRPr/>
          </a:p>
        </p:txBody>
      </p:sp>
      <p:sp>
        <p:nvSpPr>
          <p:cNvPr id="192" name="Google Shape;192;p16"/>
          <p:cNvSpPr txBox="1"/>
          <p:nvPr/>
        </p:nvSpPr>
        <p:spPr>
          <a:xfrm>
            <a:off x="628650" y="2143125"/>
            <a:ext cx="330830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CAGR FY2020–FY2025: +22.3%</a:t>
            </a:r>
            <a:endParaRPr/>
          </a:p>
        </p:txBody>
      </p:sp>
      <p:sp>
        <p:nvSpPr>
          <p:cNvPr id="193" name="Google Shape;193;p16"/>
          <p:cNvSpPr txBox="1"/>
          <p:nvPr/>
        </p:nvSpPr>
        <p:spPr>
          <a:xfrm>
            <a:off x="628650" y="2333625"/>
            <a:ext cx="3308300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Up from KES 14,151B in FY2020</a:t>
            </a:r>
            <a:endParaRPr/>
          </a:p>
        </p:txBody>
      </p:sp>
      <p:sp>
        <p:nvSpPr>
          <p:cNvPr id="194" name="Google Shape;194;p16"/>
          <p:cNvSpPr txBox="1"/>
          <p:nvPr/>
        </p:nvSpPr>
        <p:spPr>
          <a:xfrm>
            <a:off x="4441775" y="1304925"/>
            <a:ext cx="3308300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ACTIVE CUSTOMERS FY2025</a:t>
            </a:r>
            <a:endParaRPr/>
          </a:p>
        </p:txBody>
      </p:sp>
      <p:sp>
        <p:nvSpPr>
          <p:cNvPr id="195" name="Google Shape;195;p16"/>
          <p:cNvSpPr txBox="1"/>
          <p:nvPr/>
        </p:nvSpPr>
        <p:spPr>
          <a:xfrm>
            <a:off x="4441775" y="1581150"/>
            <a:ext cx="3308300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25" b="1" i="0" u="none" strike="noStrike" cap="none">
                <a:solidFill>
                  <a:srgbClr val="00D4A0"/>
                </a:solidFill>
                <a:latin typeface="Calibri"/>
                <a:ea typeface="Calibri"/>
                <a:cs typeface="Calibri"/>
                <a:sym typeface="Calibri"/>
              </a:rPr>
              <a:t>35.8M</a:t>
            </a:r>
            <a:endParaRPr/>
          </a:p>
        </p:txBody>
      </p:sp>
      <p:sp>
        <p:nvSpPr>
          <p:cNvPr id="196" name="Google Shape;196;p16"/>
          <p:cNvSpPr txBox="1"/>
          <p:nvPr/>
        </p:nvSpPr>
        <p:spPr>
          <a:xfrm>
            <a:off x="4441775" y="2143125"/>
            <a:ext cx="330830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CAGR FY2020–FY2025: +7.5%</a:t>
            </a:r>
            <a:endParaRPr/>
          </a:p>
        </p:txBody>
      </p:sp>
      <p:sp>
        <p:nvSpPr>
          <p:cNvPr id="197" name="Google Shape;197;p16"/>
          <p:cNvSpPr txBox="1"/>
          <p:nvPr/>
        </p:nvSpPr>
        <p:spPr>
          <a:xfrm>
            <a:off x="4441775" y="2333625"/>
            <a:ext cx="3308300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101% of adult population</a:t>
            </a:r>
            <a:endParaRPr/>
          </a:p>
        </p:txBody>
      </p:sp>
      <p:sp>
        <p:nvSpPr>
          <p:cNvPr id="198" name="Google Shape;198;p16"/>
          <p:cNvSpPr txBox="1"/>
          <p:nvPr/>
        </p:nvSpPr>
        <p:spPr>
          <a:xfrm>
            <a:off x="8254900" y="1304925"/>
            <a:ext cx="3308300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ADULT PENETRATION</a:t>
            </a:r>
            <a:endParaRPr/>
          </a:p>
        </p:txBody>
      </p:sp>
      <p:sp>
        <p:nvSpPr>
          <p:cNvPr id="199" name="Google Shape;199;p16"/>
          <p:cNvSpPr txBox="1"/>
          <p:nvPr/>
        </p:nvSpPr>
        <p:spPr>
          <a:xfrm>
            <a:off x="8254900" y="1581150"/>
            <a:ext cx="3308300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25" b="1" i="0" u="none" strike="noStrike" cap="non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101%</a:t>
            </a:r>
            <a:endParaRPr/>
          </a:p>
        </p:txBody>
      </p:sp>
      <p:sp>
        <p:nvSpPr>
          <p:cNvPr id="200" name="Google Shape;200;p16"/>
          <p:cNvSpPr txBox="1"/>
          <p:nvPr/>
        </p:nvSpPr>
        <p:spPr>
          <a:xfrm>
            <a:off x="8254900" y="2143125"/>
            <a:ext cx="330830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M-Pesa users per adult</a:t>
            </a:r>
            <a:endParaRPr/>
          </a:p>
        </p:txBody>
      </p:sp>
      <p:sp>
        <p:nvSpPr>
          <p:cNvPr id="201" name="Google Shape;201;p16"/>
          <p:cNvSpPr txBox="1"/>
          <p:nvPr/>
        </p:nvSpPr>
        <p:spPr>
          <a:xfrm>
            <a:off x="8254900" y="2333625"/>
            <a:ext cx="3308300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Digital distribution is complete</a:t>
            </a: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DF7472-D08A-649E-3820-9182646BBDC7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16596"/>
          <a:stretch>
            <a:fillRect/>
          </a:stretch>
        </p:blipFill>
        <p:spPr>
          <a:xfrm>
            <a:off x="3367796" y="3219450"/>
            <a:ext cx="4887104" cy="323850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638925"/>
            <a:ext cx="1219200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07181" y="1143000"/>
            <a:ext cx="6477000" cy="1438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50106" y="2647950"/>
            <a:ext cx="5391150" cy="1438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388268" y="4152900"/>
            <a:ext cx="4314825" cy="1438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853237" y="1143000"/>
            <a:ext cx="5038725" cy="1362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853237" y="2647950"/>
            <a:ext cx="5038725" cy="1362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853237" y="4152900"/>
            <a:ext cx="5038725" cy="1362075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17"/>
          <p:cNvSpPr/>
          <p:nvPr/>
        </p:nvSpPr>
        <p:spPr>
          <a:xfrm>
            <a:off x="361950" y="647700"/>
            <a:ext cx="11468100" cy="9525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7"/>
          <p:cNvSpPr txBox="1"/>
          <p:nvPr/>
        </p:nvSpPr>
        <p:spPr>
          <a:xfrm>
            <a:off x="428625" y="6457950"/>
            <a:ext cx="4569321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Sources: World Bank · IMF Financial Access Survey · FinAccess 2021 · Safaricom Annual Reports</a:t>
            </a:r>
            <a:endParaRPr/>
          </a:p>
        </p:txBody>
      </p:sp>
      <p:sp>
        <p:nvSpPr>
          <p:cNvPr id="215" name="Google Shape;215;p17"/>
          <p:cNvSpPr txBox="1"/>
          <p:nvPr/>
        </p:nvSpPr>
        <p:spPr>
          <a:xfrm>
            <a:off x="428625" y="142875"/>
            <a:ext cx="1133475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MARKET OPPORTUNITY</a:t>
            </a:r>
            <a:endParaRPr/>
          </a:p>
        </p:txBody>
      </p:sp>
      <p:sp>
        <p:nvSpPr>
          <p:cNvPr id="216" name="Google Shape;216;p17"/>
          <p:cNvSpPr txBox="1"/>
          <p:nvPr/>
        </p:nvSpPr>
        <p:spPr>
          <a:xfrm>
            <a:off x="428625" y="285750"/>
            <a:ext cx="11334750" cy="3875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998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TAM → SAM → SOM | 19.2M Digitally Reachable Borrowers</a:t>
            </a:r>
            <a:endParaRPr/>
          </a:p>
        </p:txBody>
      </p:sp>
      <p:sp>
        <p:nvSpPr>
          <p:cNvPr id="217" name="Google Shape;217;p17"/>
          <p:cNvSpPr txBox="1"/>
          <p:nvPr/>
        </p:nvSpPr>
        <p:spPr>
          <a:xfrm>
            <a:off x="428625" y="6700837"/>
            <a:ext cx="2571750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Kenya Digital Lending — Investment Due Diligence | February 2026</a:t>
            </a:r>
            <a:endParaRPr/>
          </a:p>
        </p:txBody>
      </p:sp>
      <p:sp>
        <p:nvSpPr>
          <p:cNvPr id="218" name="Google Shape;218;p17"/>
          <p:cNvSpPr txBox="1"/>
          <p:nvPr/>
        </p:nvSpPr>
        <p:spPr>
          <a:xfrm>
            <a:off x="11715601" y="6700837"/>
            <a:ext cx="47773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219" name="Google Shape;219;p17"/>
          <p:cNvSpPr txBox="1"/>
          <p:nvPr/>
        </p:nvSpPr>
        <p:spPr>
          <a:xfrm>
            <a:off x="592931" y="1538287"/>
            <a:ext cx="6191250" cy="1962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 dirty="0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TAM — Total Addressable Market</a:t>
            </a:r>
            <a:endParaRPr dirty="0"/>
          </a:p>
        </p:txBody>
      </p:sp>
      <p:sp>
        <p:nvSpPr>
          <p:cNvPr id="220" name="Google Shape;220;p17"/>
          <p:cNvSpPr txBox="1"/>
          <p:nvPr/>
        </p:nvSpPr>
        <p:spPr>
          <a:xfrm>
            <a:off x="592931" y="1728787"/>
            <a:ext cx="6191250" cy="334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75" b="1" i="0" u="none" strike="noStrike" cap="none" dirty="0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20.0M</a:t>
            </a:r>
            <a:endParaRPr dirty="0"/>
          </a:p>
        </p:txBody>
      </p:sp>
      <p:sp>
        <p:nvSpPr>
          <p:cNvPr id="221" name="Google Shape;221;p17"/>
          <p:cNvSpPr txBox="1"/>
          <p:nvPr/>
        </p:nvSpPr>
        <p:spPr>
          <a:xfrm>
            <a:off x="592931" y="2043112"/>
            <a:ext cx="6191250" cy="1500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 dirty="0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All Kenyan adults with unmet credit demand</a:t>
            </a:r>
            <a:endParaRPr dirty="0"/>
          </a:p>
        </p:txBody>
      </p:sp>
      <p:sp>
        <p:nvSpPr>
          <p:cNvPr id="222" name="Google Shape;222;p17"/>
          <p:cNvSpPr txBox="1"/>
          <p:nvPr/>
        </p:nvSpPr>
        <p:spPr>
          <a:xfrm>
            <a:off x="1135856" y="3043237"/>
            <a:ext cx="5105400" cy="1962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 dirty="0">
                <a:solidFill>
                  <a:srgbClr val="0A0D14"/>
                </a:solidFill>
                <a:latin typeface="Calibri"/>
                <a:ea typeface="Calibri"/>
                <a:cs typeface="Calibri"/>
                <a:sym typeface="Calibri"/>
              </a:rPr>
              <a:t>SAM — Serviceable Addressable Market</a:t>
            </a:r>
            <a:endParaRPr dirty="0"/>
          </a:p>
        </p:txBody>
      </p:sp>
      <p:sp>
        <p:nvSpPr>
          <p:cNvPr id="223" name="Google Shape;223;p17"/>
          <p:cNvSpPr txBox="1"/>
          <p:nvPr/>
        </p:nvSpPr>
        <p:spPr>
          <a:xfrm>
            <a:off x="1135856" y="3233737"/>
            <a:ext cx="5105400" cy="334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75" b="1" i="0" u="none" strike="noStrike" cap="none" dirty="0">
                <a:solidFill>
                  <a:srgbClr val="0A0D14"/>
                </a:solidFill>
                <a:latin typeface="Calibri"/>
                <a:ea typeface="Calibri"/>
                <a:cs typeface="Calibri"/>
                <a:sym typeface="Calibri"/>
              </a:rPr>
              <a:t>19.2M</a:t>
            </a:r>
            <a:endParaRPr dirty="0"/>
          </a:p>
        </p:txBody>
      </p:sp>
      <p:sp>
        <p:nvSpPr>
          <p:cNvPr id="224" name="Google Shape;224;p17"/>
          <p:cNvSpPr txBox="1"/>
          <p:nvPr/>
        </p:nvSpPr>
        <p:spPr>
          <a:xfrm>
            <a:off x="1135856" y="3548062"/>
            <a:ext cx="5105400" cy="1500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 dirty="0">
                <a:solidFill>
                  <a:srgbClr val="0A0D14"/>
                </a:solidFill>
                <a:latin typeface="Calibri"/>
                <a:ea typeface="Calibri"/>
                <a:cs typeface="Calibri"/>
                <a:sym typeface="Calibri"/>
              </a:rPr>
              <a:t>Reachable via M-Pesa today</a:t>
            </a:r>
            <a:endParaRPr dirty="0"/>
          </a:p>
        </p:txBody>
      </p:sp>
      <p:sp>
        <p:nvSpPr>
          <p:cNvPr id="225" name="Google Shape;225;p17"/>
          <p:cNvSpPr txBox="1"/>
          <p:nvPr/>
        </p:nvSpPr>
        <p:spPr>
          <a:xfrm>
            <a:off x="1674018" y="4548187"/>
            <a:ext cx="4029075" cy="1962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 dirty="0">
                <a:solidFill>
                  <a:srgbClr val="0A0D14"/>
                </a:solidFill>
                <a:latin typeface="Calibri"/>
                <a:ea typeface="Calibri"/>
                <a:cs typeface="Calibri"/>
                <a:sym typeface="Calibri"/>
              </a:rPr>
              <a:t>SOM — Year 3 Target</a:t>
            </a:r>
            <a:endParaRPr dirty="0"/>
          </a:p>
        </p:txBody>
      </p:sp>
      <p:sp>
        <p:nvSpPr>
          <p:cNvPr id="226" name="Google Shape;226;p17"/>
          <p:cNvSpPr txBox="1"/>
          <p:nvPr/>
        </p:nvSpPr>
        <p:spPr>
          <a:xfrm>
            <a:off x="1674018" y="4738687"/>
            <a:ext cx="4029075" cy="334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75" b="1" i="0" u="none" strike="noStrike" cap="none" dirty="0">
                <a:solidFill>
                  <a:srgbClr val="0A0D14"/>
                </a:solidFill>
                <a:latin typeface="Calibri"/>
                <a:ea typeface="Calibri"/>
                <a:cs typeface="Calibri"/>
                <a:sym typeface="Calibri"/>
              </a:rPr>
              <a:t>576K</a:t>
            </a:r>
            <a:endParaRPr dirty="0"/>
          </a:p>
        </p:txBody>
      </p:sp>
      <p:sp>
        <p:nvSpPr>
          <p:cNvPr id="227" name="Google Shape;227;p17"/>
          <p:cNvSpPr txBox="1"/>
          <p:nvPr/>
        </p:nvSpPr>
        <p:spPr>
          <a:xfrm>
            <a:off x="1674018" y="5053012"/>
            <a:ext cx="4029075" cy="1500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 dirty="0">
                <a:solidFill>
                  <a:srgbClr val="0A0D14"/>
                </a:solidFill>
                <a:latin typeface="Calibri"/>
                <a:ea typeface="Calibri"/>
                <a:cs typeface="Calibri"/>
                <a:sym typeface="Calibri"/>
              </a:rPr>
              <a:t>3% SAM share | 3.2 loans/year avg</a:t>
            </a:r>
            <a:endParaRPr dirty="0"/>
          </a:p>
        </p:txBody>
      </p:sp>
      <p:sp>
        <p:nvSpPr>
          <p:cNvPr id="228" name="Google Shape;228;p17"/>
          <p:cNvSpPr/>
          <p:nvPr/>
        </p:nvSpPr>
        <p:spPr>
          <a:xfrm>
            <a:off x="6862762" y="1152525"/>
            <a:ext cx="48220" cy="1343025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7"/>
          <p:cNvSpPr/>
          <p:nvPr/>
        </p:nvSpPr>
        <p:spPr>
          <a:xfrm>
            <a:off x="6862762" y="2657475"/>
            <a:ext cx="54173" cy="1343025"/>
          </a:xfrm>
          <a:prstGeom prst="rect">
            <a:avLst/>
          </a:prstGeom>
          <a:solidFill>
            <a:srgbClr val="00D4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7"/>
          <p:cNvSpPr/>
          <p:nvPr/>
        </p:nvSpPr>
        <p:spPr>
          <a:xfrm>
            <a:off x="6862762" y="4162425"/>
            <a:ext cx="43011" cy="1343025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7"/>
          <p:cNvSpPr txBox="1"/>
          <p:nvPr/>
        </p:nvSpPr>
        <p:spPr>
          <a:xfrm>
            <a:off x="7196732" y="1463575"/>
            <a:ext cx="4542829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Why TAM ≈ SAM</a:t>
            </a:r>
            <a:endParaRPr/>
          </a:p>
        </p:txBody>
      </p:sp>
      <p:sp>
        <p:nvSpPr>
          <p:cNvPr id="232" name="Google Shape;232;p17"/>
          <p:cNvSpPr txBox="1"/>
          <p:nvPr/>
        </p:nvSpPr>
        <p:spPr>
          <a:xfrm>
            <a:off x="7196732" y="1701700"/>
            <a:ext cx="4542829" cy="4826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M-Pesa penetration at 101% of adults means the addressable market is almost entirely digitally reachable. Unlike most emerging markets, Kenya requires no infrastructure buildout.</a:t>
            </a:r>
            <a:endParaRPr/>
          </a:p>
        </p:txBody>
      </p:sp>
      <p:sp>
        <p:nvSpPr>
          <p:cNvPr id="233" name="Google Shape;233;p17"/>
          <p:cNvSpPr txBox="1"/>
          <p:nvPr/>
        </p:nvSpPr>
        <p:spPr>
          <a:xfrm>
            <a:off x="7202685" y="3049041"/>
            <a:ext cx="4536876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Conservative SOM Assumption</a:t>
            </a:r>
            <a:endParaRPr/>
          </a:p>
        </p:txBody>
      </p:sp>
      <p:sp>
        <p:nvSpPr>
          <p:cNvPr id="234" name="Google Shape;234;p17"/>
          <p:cNvSpPr txBox="1"/>
          <p:nvPr/>
        </p:nvSpPr>
        <p:spPr>
          <a:xfrm>
            <a:off x="7202685" y="3287166"/>
            <a:ext cx="4536876" cy="3217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3% SAM share anchored to Tala and Branch Kenya growth trajectories in their first three years. No distribution innovation required — only operational execution.</a:t>
            </a:r>
            <a:endParaRPr/>
          </a:p>
        </p:txBody>
      </p:sp>
      <p:sp>
        <p:nvSpPr>
          <p:cNvPr id="235" name="Google Shape;235;p17"/>
          <p:cNvSpPr txBox="1"/>
          <p:nvPr/>
        </p:nvSpPr>
        <p:spPr>
          <a:xfrm>
            <a:off x="7191523" y="4473475"/>
            <a:ext cx="4548038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The 58pp Credit Gap</a:t>
            </a:r>
            <a:endParaRPr/>
          </a:p>
        </p:txBody>
      </p:sp>
      <p:sp>
        <p:nvSpPr>
          <p:cNvPr id="236" name="Google Shape;236;p17"/>
          <p:cNvSpPr txBox="1"/>
          <p:nvPr/>
        </p:nvSpPr>
        <p:spPr>
          <a:xfrm>
            <a:off x="7191523" y="4711600"/>
            <a:ext cx="4548038" cy="4826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Kenya credit/GDP ~32% vs global average ~90%. This structural gap represents decades of underinvestment in consumer credit infrastructure. Digital lenders with behavioural data can close it profitably.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638925"/>
            <a:ext cx="1219200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Google Shape;242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28625" y="952500"/>
            <a:ext cx="11334750" cy="895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28625" y="4562475"/>
            <a:ext cx="5391150" cy="1257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000750" y="4562475"/>
            <a:ext cx="5391150" cy="1257300"/>
          </a:xfrm>
          <a:prstGeom prst="rect">
            <a:avLst/>
          </a:prstGeom>
          <a:noFill/>
          <a:ln>
            <a:noFill/>
          </a:ln>
        </p:spPr>
      </p:pic>
      <p:sp>
        <p:nvSpPr>
          <p:cNvPr id="245" name="Google Shape;245;p18"/>
          <p:cNvSpPr/>
          <p:nvPr/>
        </p:nvSpPr>
        <p:spPr>
          <a:xfrm>
            <a:off x="361950" y="647700"/>
            <a:ext cx="11468100" cy="9525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8"/>
          <p:cNvSpPr txBox="1"/>
          <p:nvPr/>
        </p:nvSpPr>
        <p:spPr>
          <a:xfrm>
            <a:off x="428625" y="142875"/>
            <a:ext cx="1133475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CREDIT RISK</a:t>
            </a:r>
            <a:endParaRPr/>
          </a:p>
        </p:txBody>
      </p:sp>
      <p:sp>
        <p:nvSpPr>
          <p:cNvPr id="247" name="Google Shape;247;p18"/>
          <p:cNvSpPr txBox="1"/>
          <p:nvPr/>
        </p:nvSpPr>
        <p:spPr>
          <a:xfrm>
            <a:off x="428625" y="285750"/>
            <a:ext cx="11334750" cy="3875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998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Borrower Risk Model | Gradient Boosting | AUC 0.7396</a:t>
            </a:r>
            <a:endParaRPr/>
          </a:p>
        </p:txBody>
      </p:sp>
      <p:sp>
        <p:nvSpPr>
          <p:cNvPr id="248" name="Google Shape;248;p18"/>
          <p:cNvSpPr txBox="1"/>
          <p:nvPr/>
        </p:nvSpPr>
        <p:spPr>
          <a:xfrm>
            <a:off x="428625" y="6700837"/>
            <a:ext cx="2571750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Kenya Digital Lending — Investment Due Diligence | February 2026</a:t>
            </a:r>
            <a:endParaRPr/>
          </a:p>
        </p:txBody>
      </p:sp>
      <p:sp>
        <p:nvSpPr>
          <p:cNvPr id="249" name="Google Shape;249;p18"/>
          <p:cNvSpPr txBox="1"/>
          <p:nvPr/>
        </p:nvSpPr>
        <p:spPr>
          <a:xfrm>
            <a:off x="11715601" y="6700837"/>
            <a:ext cx="47773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/>
          </a:p>
        </p:txBody>
      </p:sp>
      <p:graphicFrame>
        <p:nvGraphicFramePr>
          <p:cNvPr id="250" name="Google Shape;250;p18"/>
          <p:cNvGraphicFramePr/>
          <p:nvPr/>
        </p:nvGraphicFramePr>
        <p:xfrm>
          <a:off x="428625" y="2085975"/>
          <a:ext cx="11282325" cy="2095500"/>
        </p:xfrm>
        <a:graphic>
          <a:graphicData uri="http://schemas.openxmlformats.org/drawingml/2006/table">
            <a:tbl>
              <a:tblPr firstRow="1" bandRow="1">
                <a:noFill/>
                <a:tableStyleId>{163A856A-0E42-4943-8640-E0C2A1199798}</a:tableStyleId>
              </a:tblPr>
              <a:tblGrid>
                <a:gridCol w="2177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0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0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0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42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>
                          <a:solidFill>
                            <a:srgbClr val="E8F0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Segment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>
                          <a:solidFill>
                            <a:srgbClr val="E8F0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Portfolio Share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>
                          <a:solidFill>
                            <a:srgbClr val="E8F0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PD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>
                          <a:solidFill>
                            <a:srgbClr val="E8F0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LGD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>
                          <a:solidFill>
                            <a:srgbClr val="E8F0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Recommended APR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C8D4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Prime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C8D4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35%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75" b="1" i="0" u="none" strike="noStrike" cap="none">
                          <a:solidFill>
                            <a:srgbClr val="00D4A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3.20%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C8D4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35%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C8D4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~31%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C8D4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Near Prime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C8D4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45%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75" b="1" i="0" u="none" strike="noStrike" cap="none">
                          <a:solidFill>
                            <a:srgbClr val="F0A5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7.70%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C8D4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45%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C8D4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~37%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C8D4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Subprime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C8D4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20%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75" b="1" i="0" u="none" strike="noStrike" cap="none">
                          <a:solidFill>
                            <a:srgbClr val="E8404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20.06%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C8D4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60%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C8D4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~48%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>
                          <a:solidFill>
                            <a:srgbClr val="C8D4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Portfolio (Weighted)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>
                          <a:solidFill>
                            <a:srgbClr val="C8D4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100%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>
                          <a:solidFill>
                            <a:srgbClr val="C8D4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8.60%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>
                          <a:solidFill>
                            <a:srgbClr val="C8D4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44.5%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>
                          <a:solidFill>
                            <a:srgbClr val="C8D4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~37%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1" name="Google Shape;251;p18"/>
          <p:cNvSpPr txBox="1"/>
          <p:nvPr/>
        </p:nvSpPr>
        <p:spPr>
          <a:xfrm>
            <a:off x="859631" y="1228725"/>
            <a:ext cx="1412378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>
                <a:solidFill>
                  <a:srgbClr val="00D4A0"/>
                </a:solidFill>
                <a:latin typeface="Calibri"/>
                <a:ea typeface="Calibri"/>
                <a:cs typeface="Calibri"/>
                <a:sym typeface="Calibri"/>
              </a:rPr>
              <a:t>Gradient Boosting</a:t>
            </a:r>
            <a:endParaRPr/>
          </a:p>
        </p:txBody>
      </p:sp>
      <p:sp>
        <p:nvSpPr>
          <p:cNvPr id="252" name="Google Shape;252;p18"/>
          <p:cNvSpPr txBox="1"/>
          <p:nvPr/>
        </p:nvSpPr>
        <p:spPr>
          <a:xfrm>
            <a:off x="1279921" y="1438275"/>
            <a:ext cx="571797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Best Model</a:t>
            </a:r>
            <a:endParaRPr/>
          </a:p>
        </p:txBody>
      </p:sp>
      <p:sp>
        <p:nvSpPr>
          <p:cNvPr id="253" name="Google Shape;253;p18"/>
          <p:cNvSpPr txBox="1"/>
          <p:nvPr/>
        </p:nvSpPr>
        <p:spPr>
          <a:xfrm>
            <a:off x="3583185" y="1228725"/>
            <a:ext cx="4953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>
                <a:solidFill>
                  <a:srgbClr val="00D4A0"/>
                </a:solidFill>
                <a:latin typeface="Calibri"/>
                <a:ea typeface="Calibri"/>
                <a:cs typeface="Calibri"/>
                <a:sym typeface="Calibri"/>
              </a:rPr>
              <a:t>0.7396</a:t>
            </a:r>
            <a:endParaRPr/>
          </a:p>
        </p:txBody>
      </p:sp>
      <p:sp>
        <p:nvSpPr>
          <p:cNvPr id="254" name="Google Shape;254;p18"/>
          <p:cNvSpPr txBox="1"/>
          <p:nvPr/>
        </p:nvSpPr>
        <p:spPr>
          <a:xfrm>
            <a:off x="3544937" y="1438275"/>
            <a:ext cx="571797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AUC Score</a:t>
            </a:r>
            <a:endParaRPr/>
          </a:p>
        </p:txBody>
      </p:sp>
      <p:sp>
        <p:nvSpPr>
          <p:cNvPr id="255" name="Google Shape;255;p18"/>
          <p:cNvSpPr txBox="1"/>
          <p:nvPr/>
        </p:nvSpPr>
        <p:spPr>
          <a:xfrm>
            <a:off x="5807719" y="1228725"/>
            <a:ext cx="576411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307,511</a:t>
            </a:r>
            <a:endParaRPr/>
          </a:p>
        </p:txBody>
      </p:sp>
      <p:sp>
        <p:nvSpPr>
          <p:cNvPr id="256" name="Google Shape;256;p18"/>
          <p:cNvSpPr txBox="1"/>
          <p:nvPr/>
        </p:nvSpPr>
        <p:spPr>
          <a:xfrm>
            <a:off x="5653236" y="1438275"/>
            <a:ext cx="885229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Training Samples</a:t>
            </a:r>
            <a:endParaRPr/>
          </a:p>
        </p:txBody>
      </p:sp>
      <p:sp>
        <p:nvSpPr>
          <p:cNvPr id="257" name="Google Shape;257;p18"/>
          <p:cNvSpPr txBox="1"/>
          <p:nvPr/>
        </p:nvSpPr>
        <p:spPr>
          <a:xfrm>
            <a:off x="8113216" y="1228725"/>
            <a:ext cx="4953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0.994x</a:t>
            </a:r>
            <a:endParaRPr/>
          </a:p>
        </p:txBody>
      </p:sp>
      <p:sp>
        <p:nvSpPr>
          <p:cNvPr id="258" name="Google Shape;258;p18"/>
          <p:cNvSpPr txBox="1"/>
          <p:nvPr/>
        </p:nvSpPr>
        <p:spPr>
          <a:xfrm>
            <a:off x="7909768" y="1438275"/>
            <a:ext cx="902196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Calibration Factor</a:t>
            </a:r>
            <a:endParaRPr/>
          </a:p>
        </p:txBody>
      </p:sp>
      <p:sp>
        <p:nvSpPr>
          <p:cNvPr id="259" name="Google Shape;259;p18"/>
          <p:cNvSpPr txBox="1"/>
          <p:nvPr/>
        </p:nvSpPr>
        <p:spPr>
          <a:xfrm>
            <a:off x="10441334" y="1228725"/>
            <a:ext cx="369093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>
                <a:solidFill>
                  <a:srgbClr val="00D4A0"/>
                </a:solidFill>
                <a:latin typeface="Calibri"/>
                <a:ea typeface="Calibri"/>
                <a:cs typeface="Calibri"/>
                <a:sym typeface="Calibri"/>
              </a:rPr>
              <a:t>8.0%</a:t>
            </a:r>
            <a:endParaRPr/>
          </a:p>
        </p:txBody>
      </p:sp>
      <p:sp>
        <p:nvSpPr>
          <p:cNvPr id="260" name="Google Shape;260;p18"/>
          <p:cNvSpPr txBox="1"/>
          <p:nvPr/>
        </p:nvSpPr>
        <p:spPr>
          <a:xfrm>
            <a:off x="10153501" y="1438275"/>
            <a:ext cx="944760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Kenya Target Rate</a:t>
            </a:r>
            <a:endParaRPr/>
          </a:p>
        </p:txBody>
      </p:sp>
      <p:sp>
        <p:nvSpPr>
          <p:cNvPr id="261" name="Google Shape;261;p18"/>
          <p:cNvSpPr txBox="1"/>
          <p:nvPr/>
        </p:nvSpPr>
        <p:spPr>
          <a:xfrm>
            <a:off x="581025" y="4714875"/>
            <a:ext cx="508635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Model Calibration</a:t>
            </a:r>
            <a:endParaRPr/>
          </a:p>
        </p:txBody>
      </p:sp>
      <p:sp>
        <p:nvSpPr>
          <p:cNvPr id="262" name="Google Shape;262;p18"/>
          <p:cNvSpPr txBox="1"/>
          <p:nvPr/>
        </p:nvSpPr>
        <p:spPr>
          <a:xfrm>
            <a:off x="581025" y="4953000"/>
            <a:ext cx="5086350" cy="692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757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Dataset default rate 8.1% calibrated to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Kenya digital target 8.0% using Platt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scaling. Calibration factor 0.994x —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near perfect alignment.</a:t>
            </a:r>
            <a:endParaRPr/>
          </a:p>
        </p:txBody>
      </p:sp>
      <p:sp>
        <p:nvSpPr>
          <p:cNvPr id="263" name="Google Shape;263;p18"/>
          <p:cNvSpPr txBox="1"/>
          <p:nvPr/>
        </p:nvSpPr>
        <p:spPr>
          <a:xfrm>
            <a:off x="6153150" y="4714875"/>
            <a:ext cx="508635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Known Limitation</a:t>
            </a:r>
            <a:endParaRPr/>
          </a:p>
        </p:txBody>
      </p:sp>
      <p:sp>
        <p:nvSpPr>
          <p:cNvPr id="264" name="Google Shape;264;p18"/>
          <p:cNvSpPr txBox="1"/>
          <p:nvPr/>
        </p:nvSpPr>
        <p:spPr>
          <a:xfrm>
            <a:off x="6153150" y="4953000"/>
            <a:ext cx="5086350" cy="692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757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1" u="none" strike="noStrike" cap="non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 Model trained on non-Kenya data.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1" u="none" strike="noStrike" cap="non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 Outputs are directional estimates.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1" u="none" strike="noStrike" cap="non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 Kenya-native recalibration recommended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1" u="none" strike="noStrike" cap="non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 after 12 months of operational data. </a:t>
            </a:r>
            <a:endParaRPr/>
          </a:p>
        </p:txBody>
      </p:sp>
      <p:sp>
        <p:nvSpPr>
          <p:cNvPr id="265" name="Google Shape;265;p18"/>
          <p:cNvSpPr/>
          <p:nvPr/>
        </p:nvSpPr>
        <p:spPr>
          <a:xfrm>
            <a:off x="481012" y="2476500"/>
            <a:ext cx="104775" cy="428625"/>
          </a:xfrm>
          <a:prstGeom prst="rect">
            <a:avLst/>
          </a:prstGeom>
          <a:solidFill>
            <a:srgbClr val="00D4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18"/>
          <p:cNvSpPr/>
          <p:nvPr/>
        </p:nvSpPr>
        <p:spPr>
          <a:xfrm>
            <a:off x="481012" y="2905125"/>
            <a:ext cx="104775" cy="43815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8"/>
          <p:cNvSpPr/>
          <p:nvPr/>
        </p:nvSpPr>
        <p:spPr>
          <a:xfrm>
            <a:off x="481012" y="3343275"/>
            <a:ext cx="104775" cy="438150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8"/>
          <p:cNvSpPr/>
          <p:nvPr/>
        </p:nvSpPr>
        <p:spPr>
          <a:xfrm>
            <a:off x="481012" y="3781425"/>
            <a:ext cx="104775" cy="400050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3" name="Google Shape;273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638925"/>
            <a:ext cx="1219200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4" name="Google Shape;274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28625" y="1266825"/>
            <a:ext cx="3981450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5" name="Google Shape;275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28625" y="1647825"/>
            <a:ext cx="3981450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" name="Google Shape;276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28625" y="2028825"/>
            <a:ext cx="3981450" cy="400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7" name="Google Shape;277;p1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28625" y="2486025"/>
            <a:ext cx="3981450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8" name="Google Shape;278;p19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28625" y="2867025"/>
            <a:ext cx="3981450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9" name="Google Shape;279;p19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28625" y="3248025"/>
            <a:ext cx="3981450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19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428625" y="3629025"/>
            <a:ext cx="3981450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19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428625" y="4010025"/>
            <a:ext cx="3981450" cy="428625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19"/>
          <p:cNvSpPr/>
          <p:nvPr/>
        </p:nvSpPr>
        <p:spPr>
          <a:xfrm>
            <a:off x="361950" y="647700"/>
            <a:ext cx="11468100" cy="9525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9"/>
          <p:cNvSpPr txBox="1"/>
          <p:nvPr/>
        </p:nvSpPr>
        <p:spPr>
          <a:xfrm>
            <a:off x="428625" y="142875"/>
            <a:ext cx="1133475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FINANCIAL MODEL</a:t>
            </a:r>
            <a:endParaRPr/>
          </a:p>
        </p:txBody>
      </p:sp>
      <p:sp>
        <p:nvSpPr>
          <p:cNvPr id="284" name="Google Shape;284;p19"/>
          <p:cNvSpPr txBox="1"/>
          <p:nvPr/>
        </p:nvSpPr>
        <p:spPr>
          <a:xfrm>
            <a:off x="428625" y="285750"/>
            <a:ext cx="11334750" cy="3875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998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Unit Economics and 3-Year Projections</a:t>
            </a:r>
            <a:endParaRPr/>
          </a:p>
        </p:txBody>
      </p:sp>
      <p:sp>
        <p:nvSpPr>
          <p:cNvPr id="285" name="Google Shape;285;p19"/>
          <p:cNvSpPr txBox="1"/>
          <p:nvPr/>
        </p:nvSpPr>
        <p:spPr>
          <a:xfrm>
            <a:off x="428625" y="6700837"/>
            <a:ext cx="2571750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Kenya Digital Lending — Investment Due Diligence | February 2026</a:t>
            </a:r>
            <a:endParaRPr/>
          </a:p>
        </p:txBody>
      </p:sp>
      <p:sp>
        <p:nvSpPr>
          <p:cNvPr id="286" name="Google Shape;286;p19"/>
          <p:cNvSpPr txBox="1"/>
          <p:nvPr/>
        </p:nvSpPr>
        <p:spPr>
          <a:xfrm>
            <a:off x="11715601" y="6700837"/>
            <a:ext cx="47773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/>
          </a:p>
        </p:txBody>
      </p:sp>
      <p:sp>
        <p:nvSpPr>
          <p:cNvPr id="287" name="Google Shape;287;p19"/>
          <p:cNvSpPr txBox="1"/>
          <p:nvPr/>
        </p:nvSpPr>
        <p:spPr>
          <a:xfrm>
            <a:off x="428625" y="952500"/>
            <a:ext cx="434340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Unit Economics — KES 10,000 Loan</a:t>
            </a:r>
            <a:endParaRPr/>
          </a:p>
        </p:txBody>
      </p:sp>
      <p:sp>
        <p:nvSpPr>
          <p:cNvPr id="288" name="Google Shape;288;p19"/>
          <p:cNvSpPr txBox="1"/>
          <p:nvPr/>
        </p:nvSpPr>
        <p:spPr>
          <a:xfrm>
            <a:off x="428625" y="4581525"/>
            <a:ext cx="398145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0D4A0"/>
                </a:solidFill>
                <a:latin typeface="Calibri"/>
                <a:ea typeface="Calibri"/>
                <a:cs typeface="Calibri"/>
                <a:sym typeface="Calibri"/>
              </a:rPr>
              <a:t>Net Margin: 46.7%</a:t>
            </a:r>
            <a:endParaRPr/>
          </a:p>
        </p:txBody>
      </p:sp>
      <p:sp>
        <p:nvSpPr>
          <p:cNvPr id="289" name="Google Shape;289;p19"/>
          <p:cNvSpPr txBox="1"/>
          <p:nvPr/>
        </p:nvSpPr>
        <p:spPr>
          <a:xfrm>
            <a:off x="4962525" y="952500"/>
            <a:ext cx="680085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3-Year Portfolio Projections (KES Millions)</a:t>
            </a:r>
            <a:endParaRPr/>
          </a:p>
        </p:txBody>
      </p:sp>
      <p:graphicFrame>
        <p:nvGraphicFramePr>
          <p:cNvPr id="290" name="Google Shape;290;p19"/>
          <p:cNvGraphicFramePr/>
          <p:nvPr/>
        </p:nvGraphicFramePr>
        <p:xfrm>
          <a:off x="4962525" y="1266825"/>
          <a:ext cx="6838925" cy="2895600"/>
        </p:xfrm>
        <a:graphic>
          <a:graphicData uri="http://schemas.openxmlformats.org/drawingml/2006/table">
            <a:tbl>
              <a:tblPr firstRow="1" bandRow="1">
                <a:noFill/>
                <a:tableStyleId>{163A856A-0E42-4943-8640-E0C2A1199798}</a:tableStyleId>
              </a:tblPr>
              <a:tblGrid>
                <a:gridCol w="2518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40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1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E8F0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Metric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E8F0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Year 1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E8F0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Year 2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E8F0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Year 3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Total Originations (KES M)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1,200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2,600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5,600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Average Loanbook (KES M)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185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400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Total Revenue (KES M)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48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105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226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Total Costs (KES M)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(26)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(56)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(120)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EBITDA (KES M)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D4A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D4A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49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D4A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106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Net Income (KES M)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D4A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D4A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D4A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Net Margin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D4A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46%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D4A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47%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D4A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47%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91" name="Google Shape;291;p19"/>
          <p:cNvSpPr txBox="1"/>
          <p:nvPr/>
        </p:nvSpPr>
        <p:spPr>
          <a:xfrm>
            <a:off x="4962525" y="4305300"/>
            <a:ext cx="6800850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8% monthly origination growth | 30% corporate tax | 6% origination fee | 30% APR</a:t>
            </a:r>
            <a:endParaRPr/>
          </a:p>
        </p:txBody>
      </p:sp>
      <p:sp>
        <p:nvSpPr>
          <p:cNvPr id="292" name="Google Shape;292;p19"/>
          <p:cNvSpPr txBox="1"/>
          <p:nvPr/>
        </p:nvSpPr>
        <p:spPr>
          <a:xfrm>
            <a:off x="571500" y="1362075"/>
            <a:ext cx="1918543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0A0D14"/>
                </a:solidFill>
                <a:latin typeface="Calibri"/>
                <a:ea typeface="Calibri"/>
                <a:cs typeface="Calibri"/>
                <a:sym typeface="Calibri"/>
              </a:rPr>
              <a:t>Interest Income (30% APR, 3 months)</a:t>
            </a:r>
            <a:endParaRPr/>
          </a:p>
        </p:txBody>
      </p:sp>
      <p:sp>
        <p:nvSpPr>
          <p:cNvPr id="293" name="Google Shape;293;p19"/>
          <p:cNvSpPr txBox="1"/>
          <p:nvPr/>
        </p:nvSpPr>
        <p:spPr>
          <a:xfrm>
            <a:off x="3699271" y="1357312"/>
            <a:ext cx="567928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0A0D14"/>
                </a:solidFill>
                <a:latin typeface="Calibri"/>
                <a:ea typeface="Calibri"/>
                <a:cs typeface="Calibri"/>
                <a:sym typeface="Calibri"/>
              </a:rPr>
              <a:t>+KES 750</a:t>
            </a:r>
            <a:endParaRPr/>
          </a:p>
        </p:txBody>
      </p:sp>
      <p:sp>
        <p:nvSpPr>
          <p:cNvPr id="294" name="Google Shape;294;p19"/>
          <p:cNvSpPr txBox="1"/>
          <p:nvPr/>
        </p:nvSpPr>
        <p:spPr>
          <a:xfrm>
            <a:off x="571500" y="1743075"/>
            <a:ext cx="1054596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0A0D14"/>
                </a:solidFill>
                <a:latin typeface="Calibri"/>
                <a:ea typeface="Calibri"/>
                <a:cs typeface="Calibri"/>
                <a:sym typeface="Calibri"/>
              </a:rPr>
              <a:t>Origination Fee (6%)</a:t>
            </a:r>
            <a:endParaRPr/>
          </a:p>
        </p:txBody>
      </p:sp>
      <p:sp>
        <p:nvSpPr>
          <p:cNvPr id="295" name="Google Shape;295;p19"/>
          <p:cNvSpPr txBox="1"/>
          <p:nvPr/>
        </p:nvSpPr>
        <p:spPr>
          <a:xfrm>
            <a:off x="3699271" y="1738312"/>
            <a:ext cx="567928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0A0D14"/>
                </a:solidFill>
                <a:latin typeface="Calibri"/>
                <a:ea typeface="Calibri"/>
                <a:cs typeface="Calibri"/>
                <a:sym typeface="Calibri"/>
              </a:rPr>
              <a:t>+KES 600</a:t>
            </a:r>
            <a:endParaRPr/>
          </a:p>
        </p:txBody>
      </p:sp>
      <p:sp>
        <p:nvSpPr>
          <p:cNvPr id="296" name="Google Shape;296;p19"/>
          <p:cNvSpPr txBox="1"/>
          <p:nvPr/>
        </p:nvSpPr>
        <p:spPr>
          <a:xfrm>
            <a:off x="571500" y="2157412"/>
            <a:ext cx="908446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Gross Revenue</a:t>
            </a:r>
            <a:endParaRPr/>
          </a:p>
        </p:txBody>
      </p:sp>
      <p:sp>
        <p:nvSpPr>
          <p:cNvPr id="297" name="Google Shape;297;p19"/>
          <p:cNvSpPr txBox="1"/>
          <p:nvPr/>
        </p:nvSpPr>
        <p:spPr>
          <a:xfrm>
            <a:off x="3530054" y="2143125"/>
            <a:ext cx="737145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KES 1,350</a:t>
            </a:r>
            <a:endParaRPr/>
          </a:p>
        </p:txBody>
      </p:sp>
      <p:sp>
        <p:nvSpPr>
          <p:cNvPr id="298" name="Google Shape;298;p19"/>
          <p:cNvSpPr txBox="1"/>
          <p:nvPr/>
        </p:nvSpPr>
        <p:spPr>
          <a:xfrm>
            <a:off x="571500" y="2581275"/>
            <a:ext cx="1276945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Funding Cost (14% APR)</a:t>
            </a:r>
            <a:endParaRPr/>
          </a:p>
        </p:txBody>
      </p:sp>
      <p:sp>
        <p:nvSpPr>
          <p:cNvPr id="299" name="Google Shape;299;p19"/>
          <p:cNvSpPr txBox="1"/>
          <p:nvPr/>
        </p:nvSpPr>
        <p:spPr>
          <a:xfrm>
            <a:off x="3730228" y="2576512"/>
            <a:ext cx="536971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-KES 350</a:t>
            </a:r>
            <a:endParaRPr/>
          </a:p>
        </p:txBody>
      </p:sp>
      <p:sp>
        <p:nvSpPr>
          <p:cNvPr id="300" name="Google Shape;300;p19"/>
          <p:cNvSpPr txBox="1"/>
          <p:nvPr/>
        </p:nvSpPr>
        <p:spPr>
          <a:xfrm>
            <a:off x="571500" y="2962275"/>
            <a:ext cx="1086445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Expected Credit Loss</a:t>
            </a:r>
            <a:endParaRPr/>
          </a:p>
        </p:txBody>
      </p:sp>
      <p:sp>
        <p:nvSpPr>
          <p:cNvPr id="301" name="Google Shape;301;p19"/>
          <p:cNvSpPr txBox="1"/>
          <p:nvPr/>
        </p:nvSpPr>
        <p:spPr>
          <a:xfrm>
            <a:off x="3730228" y="2957512"/>
            <a:ext cx="536971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-KES 170</a:t>
            </a:r>
            <a:endParaRPr/>
          </a:p>
        </p:txBody>
      </p:sp>
      <p:sp>
        <p:nvSpPr>
          <p:cNvPr id="302" name="Google Shape;302;p19"/>
          <p:cNvSpPr txBox="1"/>
          <p:nvPr/>
        </p:nvSpPr>
        <p:spPr>
          <a:xfrm>
            <a:off x="571500" y="3343275"/>
            <a:ext cx="1340494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Customer Acquisition Cost</a:t>
            </a:r>
            <a:endParaRPr/>
          </a:p>
        </p:txBody>
      </p:sp>
      <p:sp>
        <p:nvSpPr>
          <p:cNvPr id="303" name="Google Shape;303;p19"/>
          <p:cNvSpPr txBox="1"/>
          <p:nvPr/>
        </p:nvSpPr>
        <p:spPr>
          <a:xfrm>
            <a:off x="3730228" y="3338512"/>
            <a:ext cx="536971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-KES 150</a:t>
            </a:r>
            <a:endParaRPr/>
          </a:p>
        </p:txBody>
      </p:sp>
      <p:sp>
        <p:nvSpPr>
          <p:cNvPr id="304" name="Google Shape;304;p19"/>
          <p:cNvSpPr txBox="1"/>
          <p:nvPr/>
        </p:nvSpPr>
        <p:spPr>
          <a:xfrm>
            <a:off x="571500" y="3724275"/>
            <a:ext cx="736996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Servicing Cost</a:t>
            </a:r>
            <a:endParaRPr/>
          </a:p>
        </p:txBody>
      </p:sp>
      <p:sp>
        <p:nvSpPr>
          <p:cNvPr id="305" name="Google Shape;305;p19"/>
          <p:cNvSpPr txBox="1"/>
          <p:nvPr/>
        </p:nvSpPr>
        <p:spPr>
          <a:xfrm>
            <a:off x="3799135" y="3719512"/>
            <a:ext cx="468064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-KES 50</a:t>
            </a:r>
            <a:endParaRPr/>
          </a:p>
        </p:txBody>
      </p:sp>
      <p:sp>
        <p:nvSpPr>
          <p:cNvPr id="306" name="Google Shape;306;p19"/>
          <p:cNvSpPr txBox="1"/>
          <p:nvPr/>
        </p:nvSpPr>
        <p:spPr>
          <a:xfrm>
            <a:off x="571500" y="4143375"/>
            <a:ext cx="1126926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0A0D14"/>
                </a:solidFill>
                <a:latin typeface="Calibri"/>
                <a:ea typeface="Calibri"/>
                <a:cs typeface="Calibri"/>
                <a:sym typeface="Calibri"/>
              </a:rPr>
              <a:t>Net Contribution</a:t>
            </a:r>
            <a:endParaRPr/>
          </a:p>
        </p:txBody>
      </p:sp>
      <p:sp>
        <p:nvSpPr>
          <p:cNvPr id="307" name="Google Shape;307;p19"/>
          <p:cNvSpPr txBox="1"/>
          <p:nvPr/>
        </p:nvSpPr>
        <p:spPr>
          <a:xfrm>
            <a:off x="3542853" y="4119562"/>
            <a:ext cx="724346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0A0D14"/>
                </a:solidFill>
                <a:latin typeface="Calibri"/>
                <a:ea typeface="Calibri"/>
                <a:cs typeface="Calibri"/>
                <a:sym typeface="Calibri"/>
              </a:rPr>
              <a:t>KES 630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2" name="Google Shape;312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638925"/>
            <a:ext cx="1219200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19670" y="4457700"/>
            <a:ext cx="3600450" cy="895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23589" y="1409700"/>
            <a:ext cx="2514600" cy="108004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5" name="Google Shape;315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23589" y="2489745"/>
            <a:ext cx="2514600" cy="2520255"/>
          </a:xfrm>
          <a:prstGeom prst="rect">
            <a:avLst/>
          </a:prstGeom>
          <a:noFill/>
          <a:ln>
            <a:noFill/>
          </a:ln>
        </p:spPr>
      </p:pic>
      <p:sp>
        <p:nvSpPr>
          <p:cNvPr id="316" name="Google Shape;316;p20"/>
          <p:cNvSpPr/>
          <p:nvPr/>
        </p:nvSpPr>
        <p:spPr>
          <a:xfrm>
            <a:off x="361950" y="647700"/>
            <a:ext cx="11468100" cy="9525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20"/>
          <p:cNvSpPr txBox="1"/>
          <p:nvPr/>
        </p:nvSpPr>
        <p:spPr>
          <a:xfrm>
            <a:off x="428625" y="142875"/>
            <a:ext cx="1133475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INVESTOR RETURNS</a:t>
            </a:r>
            <a:endParaRPr/>
          </a:p>
        </p:txBody>
      </p:sp>
      <p:sp>
        <p:nvSpPr>
          <p:cNvPr id="318" name="Google Shape;318;p20"/>
          <p:cNvSpPr txBox="1"/>
          <p:nvPr/>
        </p:nvSpPr>
        <p:spPr>
          <a:xfrm>
            <a:off x="428625" y="285750"/>
            <a:ext cx="11334750" cy="3875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998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Equity IRR, MOIC and Capital Structure</a:t>
            </a:r>
            <a:endParaRPr/>
          </a:p>
        </p:txBody>
      </p:sp>
      <p:sp>
        <p:nvSpPr>
          <p:cNvPr id="319" name="Google Shape;319;p20"/>
          <p:cNvSpPr txBox="1"/>
          <p:nvPr/>
        </p:nvSpPr>
        <p:spPr>
          <a:xfrm>
            <a:off x="428625" y="6700837"/>
            <a:ext cx="2571750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Kenya Digital Lending — Investment Due Diligence | February 2026</a:t>
            </a:r>
            <a:endParaRPr/>
          </a:p>
        </p:txBody>
      </p:sp>
      <p:sp>
        <p:nvSpPr>
          <p:cNvPr id="320" name="Google Shape;320;p20"/>
          <p:cNvSpPr txBox="1"/>
          <p:nvPr/>
        </p:nvSpPr>
        <p:spPr>
          <a:xfrm>
            <a:off x="11715601" y="6700837"/>
            <a:ext cx="47773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/>
          </a:p>
        </p:txBody>
      </p:sp>
      <p:sp>
        <p:nvSpPr>
          <p:cNvPr id="321" name="Google Shape;321;p20"/>
          <p:cNvSpPr txBox="1"/>
          <p:nvPr/>
        </p:nvSpPr>
        <p:spPr>
          <a:xfrm>
            <a:off x="91664" y="923148"/>
            <a:ext cx="3778299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Capital Structure</a:t>
            </a:r>
            <a:endParaRPr dirty="0"/>
          </a:p>
        </p:txBody>
      </p:sp>
      <p:sp>
        <p:nvSpPr>
          <p:cNvPr id="322" name="Google Shape;322;p20"/>
          <p:cNvSpPr txBox="1"/>
          <p:nvPr/>
        </p:nvSpPr>
        <p:spPr>
          <a:xfrm>
            <a:off x="79628" y="5160765"/>
            <a:ext cx="3778299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 dirty="0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First-loss equity absorbs downside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00" b="0" i="0" u="none" strike="noStrike" cap="none" dirty="0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 Debt facility funds portfolio growth</a:t>
            </a:r>
            <a:endParaRPr dirty="0"/>
          </a:p>
        </p:txBody>
      </p:sp>
      <p:sp>
        <p:nvSpPr>
          <p:cNvPr id="323" name="Google Shape;323;p20"/>
          <p:cNvSpPr txBox="1"/>
          <p:nvPr/>
        </p:nvSpPr>
        <p:spPr>
          <a:xfrm>
            <a:off x="5586346" y="910018"/>
            <a:ext cx="1067097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Return Metrics</a:t>
            </a:r>
            <a:endParaRPr dirty="0"/>
          </a:p>
        </p:txBody>
      </p:sp>
      <p:graphicFrame>
        <p:nvGraphicFramePr>
          <p:cNvPr id="324" name="Google Shape;324;p20"/>
          <p:cNvGraphicFramePr/>
          <p:nvPr>
            <p:extLst>
              <p:ext uri="{D42A27DB-BD31-4B8C-83A1-F6EECF244321}">
                <p14:modId xmlns:p14="http://schemas.microsoft.com/office/powerpoint/2010/main" val="2502432623"/>
              </p:ext>
            </p:extLst>
          </p:nvPr>
        </p:nvGraphicFramePr>
        <p:xfrm>
          <a:off x="4319670" y="1409700"/>
          <a:ext cx="3600450" cy="2857575"/>
        </p:xfrm>
        <a:graphic>
          <a:graphicData uri="http://schemas.openxmlformats.org/drawingml/2006/table">
            <a:tbl>
              <a:tblPr firstRow="1" bandRow="1">
                <a:noFill/>
                <a:tableStyleId>{163A856A-0E42-4943-8640-E0C2A1199798}</a:tableStyleId>
              </a:tblPr>
              <a:tblGrid>
                <a:gridCol w="2499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0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82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>
                          <a:solidFill>
                            <a:srgbClr val="E8F0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Metric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>
                          <a:solidFill>
                            <a:srgbClr val="E8F0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Value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82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Gross IRR (base)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D4A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102.4%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82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Gross IRR (conservative 5x)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0A5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~60%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82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Net IRR after 30% tax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D4A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71.7%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82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MOIC (base)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D4A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8.0x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82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MOIC (conservative 5x)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0A5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~5.0x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82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Payback Period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Year 3 exit</a:t>
                      </a:r>
                      <a:endParaRPr dirty="0">
                        <a:solidFill>
                          <a:schemeClr val="accent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25" name="Google Shape;325;p20"/>
          <p:cNvSpPr txBox="1"/>
          <p:nvPr/>
        </p:nvSpPr>
        <p:spPr>
          <a:xfrm>
            <a:off x="8605902" y="936212"/>
            <a:ext cx="349240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Equity Cashflow Timeline</a:t>
            </a:r>
            <a:endParaRPr dirty="0"/>
          </a:p>
        </p:txBody>
      </p:sp>
      <p:sp>
        <p:nvSpPr>
          <p:cNvPr id="326" name="Google Shape;326;p20"/>
          <p:cNvSpPr txBox="1"/>
          <p:nvPr/>
        </p:nvSpPr>
        <p:spPr>
          <a:xfrm>
            <a:off x="8497778" y="4552950"/>
            <a:ext cx="34924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1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 Returns concentrated at exit.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00" b="0" i="1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 DPI 0.19x — exit covenant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00" b="0" i="1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 protections recommended. </a:t>
            </a:r>
            <a:endParaRPr/>
          </a:p>
        </p:txBody>
      </p:sp>
      <p:sp>
        <p:nvSpPr>
          <p:cNvPr id="327" name="Google Shape;327;p20"/>
          <p:cNvSpPr/>
          <p:nvPr/>
        </p:nvSpPr>
        <p:spPr>
          <a:xfrm>
            <a:off x="4319670" y="1795462"/>
            <a:ext cx="2499866" cy="9525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20"/>
          <p:cNvSpPr/>
          <p:nvPr/>
        </p:nvSpPr>
        <p:spPr>
          <a:xfrm>
            <a:off x="6819536" y="1795462"/>
            <a:ext cx="1100583" cy="9525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20"/>
          <p:cNvSpPr txBox="1"/>
          <p:nvPr/>
        </p:nvSpPr>
        <p:spPr>
          <a:xfrm>
            <a:off x="4424445" y="4517826"/>
            <a:ext cx="3390900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Note on Base Case IRR</a:t>
            </a:r>
            <a:endParaRPr/>
          </a:p>
        </p:txBody>
      </p:sp>
      <p:sp>
        <p:nvSpPr>
          <p:cNvPr id="330" name="Google Shape;330;p20"/>
          <p:cNvSpPr txBox="1"/>
          <p:nvPr/>
        </p:nvSpPr>
        <p:spPr>
          <a:xfrm>
            <a:off x="4424445" y="4698801"/>
            <a:ext cx="3390900" cy="594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6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102% gross IRR reflects 6% origination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00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fee on 3-month loans annualised.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00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Conservative 5x exit scenario produces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00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~60% — still 2.4x above hurdle rate.</a:t>
            </a:r>
            <a:endParaRPr/>
          </a:p>
        </p:txBody>
      </p:sp>
      <p:sp>
        <p:nvSpPr>
          <p:cNvPr id="331" name="Google Shape;331;p20"/>
          <p:cNvSpPr/>
          <p:nvPr/>
        </p:nvSpPr>
        <p:spPr>
          <a:xfrm>
            <a:off x="8354829" y="3314700"/>
            <a:ext cx="3778299" cy="9525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0"/>
          <p:cNvSpPr txBox="1"/>
          <p:nvPr/>
        </p:nvSpPr>
        <p:spPr>
          <a:xfrm>
            <a:off x="1704366" y="1697235"/>
            <a:ext cx="553045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0A0D14"/>
                </a:solidFill>
                <a:latin typeface="Calibri"/>
                <a:ea typeface="Calibri"/>
                <a:cs typeface="Calibri"/>
                <a:sym typeface="Calibri"/>
              </a:rPr>
              <a:t>Equity</a:t>
            </a:r>
            <a:endParaRPr/>
          </a:p>
        </p:txBody>
      </p:sp>
      <p:sp>
        <p:nvSpPr>
          <p:cNvPr id="333" name="Google Shape;333;p20"/>
          <p:cNvSpPr txBox="1"/>
          <p:nvPr/>
        </p:nvSpPr>
        <p:spPr>
          <a:xfrm>
            <a:off x="1723416" y="1906785"/>
            <a:ext cx="514796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25" b="1" i="0" u="none" strike="noStrike" cap="none">
                <a:solidFill>
                  <a:srgbClr val="0A0D14"/>
                </a:solidFill>
                <a:latin typeface="Calibri"/>
                <a:ea typeface="Calibri"/>
                <a:cs typeface="Calibri"/>
                <a:sym typeface="Calibri"/>
              </a:rPr>
              <a:t>30%</a:t>
            </a:r>
            <a:endParaRPr/>
          </a:p>
        </p:txBody>
      </p:sp>
      <p:sp>
        <p:nvSpPr>
          <p:cNvPr id="334" name="Google Shape;334;p20"/>
          <p:cNvSpPr txBox="1"/>
          <p:nvPr/>
        </p:nvSpPr>
        <p:spPr>
          <a:xfrm>
            <a:off x="1442726" y="3378398"/>
            <a:ext cx="1076176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Debt Facility</a:t>
            </a:r>
            <a:endParaRPr/>
          </a:p>
        </p:txBody>
      </p:sp>
      <p:sp>
        <p:nvSpPr>
          <p:cNvPr id="335" name="Google Shape;335;p20"/>
          <p:cNvSpPr txBox="1"/>
          <p:nvPr/>
        </p:nvSpPr>
        <p:spPr>
          <a:xfrm>
            <a:off x="1723416" y="3635573"/>
            <a:ext cx="514796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2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70%</a:t>
            </a:r>
            <a:endParaRPr/>
          </a:p>
        </p:txBody>
      </p:sp>
      <p:sp>
        <p:nvSpPr>
          <p:cNvPr id="336" name="Google Shape;336;p20"/>
          <p:cNvSpPr txBox="1"/>
          <p:nvPr/>
        </p:nvSpPr>
        <p:spPr>
          <a:xfrm>
            <a:off x="1656444" y="3978473"/>
            <a:ext cx="64889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@ 14% p.a.</a:t>
            </a:r>
            <a:endParaRPr/>
          </a:p>
        </p:txBody>
      </p:sp>
      <p:sp>
        <p:nvSpPr>
          <p:cNvPr id="337" name="Google Shape;337;p20"/>
          <p:cNvSpPr/>
          <p:nvPr/>
        </p:nvSpPr>
        <p:spPr>
          <a:xfrm>
            <a:off x="4319670" y="2205037"/>
            <a:ext cx="2499866" cy="9525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20"/>
          <p:cNvSpPr/>
          <p:nvPr/>
        </p:nvSpPr>
        <p:spPr>
          <a:xfrm>
            <a:off x="6819536" y="2205037"/>
            <a:ext cx="1100583" cy="9525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20"/>
          <p:cNvSpPr/>
          <p:nvPr/>
        </p:nvSpPr>
        <p:spPr>
          <a:xfrm>
            <a:off x="4319670" y="2614612"/>
            <a:ext cx="2499866" cy="9525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20"/>
          <p:cNvSpPr/>
          <p:nvPr/>
        </p:nvSpPr>
        <p:spPr>
          <a:xfrm>
            <a:off x="6819536" y="2614612"/>
            <a:ext cx="1100583" cy="9525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20"/>
          <p:cNvSpPr/>
          <p:nvPr/>
        </p:nvSpPr>
        <p:spPr>
          <a:xfrm>
            <a:off x="4319670" y="3024187"/>
            <a:ext cx="2499866" cy="9525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20"/>
          <p:cNvSpPr/>
          <p:nvPr/>
        </p:nvSpPr>
        <p:spPr>
          <a:xfrm>
            <a:off x="6819536" y="3024187"/>
            <a:ext cx="1100583" cy="9525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20"/>
          <p:cNvSpPr/>
          <p:nvPr/>
        </p:nvSpPr>
        <p:spPr>
          <a:xfrm>
            <a:off x="4319670" y="3433762"/>
            <a:ext cx="2499866" cy="9525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20"/>
          <p:cNvSpPr/>
          <p:nvPr/>
        </p:nvSpPr>
        <p:spPr>
          <a:xfrm>
            <a:off x="6819536" y="3433762"/>
            <a:ext cx="1100583" cy="9525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20"/>
          <p:cNvSpPr/>
          <p:nvPr/>
        </p:nvSpPr>
        <p:spPr>
          <a:xfrm>
            <a:off x="4319670" y="3843337"/>
            <a:ext cx="2499866" cy="9525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20"/>
          <p:cNvSpPr/>
          <p:nvPr/>
        </p:nvSpPr>
        <p:spPr>
          <a:xfrm>
            <a:off x="6819536" y="3843337"/>
            <a:ext cx="1100583" cy="9525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20"/>
          <p:cNvSpPr/>
          <p:nvPr/>
        </p:nvSpPr>
        <p:spPr>
          <a:xfrm>
            <a:off x="4319670" y="4252912"/>
            <a:ext cx="2499866" cy="9525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20"/>
          <p:cNvSpPr/>
          <p:nvPr/>
        </p:nvSpPr>
        <p:spPr>
          <a:xfrm>
            <a:off x="6819536" y="4252912"/>
            <a:ext cx="1100583" cy="9525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20"/>
          <p:cNvSpPr/>
          <p:nvPr/>
        </p:nvSpPr>
        <p:spPr>
          <a:xfrm>
            <a:off x="8812773" y="3248025"/>
            <a:ext cx="28575" cy="142875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0"/>
          <p:cNvSpPr/>
          <p:nvPr/>
        </p:nvSpPr>
        <p:spPr>
          <a:xfrm>
            <a:off x="9757385" y="3248025"/>
            <a:ext cx="28575" cy="142875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0"/>
          <p:cNvSpPr/>
          <p:nvPr/>
        </p:nvSpPr>
        <p:spPr>
          <a:xfrm>
            <a:off x="10701997" y="3248025"/>
            <a:ext cx="28575" cy="142875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0"/>
          <p:cNvSpPr/>
          <p:nvPr/>
        </p:nvSpPr>
        <p:spPr>
          <a:xfrm>
            <a:off x="11646609" y="3248025"/>
            <a:ext cx="28575" cy="142875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0"/>
          <p:cNvSpPr txBox="1"/>
          <p:nvPr/>
        </p:nvSpPr>
        <p:spPr>
          <a:xfrm>
            <a:off x="8444870" y="2962275"/>
            <a:ext cx="764381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E84040"/>
                </a:solidFill>
                <a:latin typeface="Calibri"/>
                <a:ea typeface="Calibri"/>
                <a:cs typeface="Calibri"/>
                <a:sym typeface="Calibri"/>
              </a:rPr>
              <a:t>-KES Xm</a:t>
            </a:r>
            <a:endParaRPr/>
          </a:p>
        </p:txBody>
      </p:sp>
      <p:sp>
        <p:nvSpPr>
          <p:cNvPr id="354" name="Google Shape;354;p20"/>
          <p:cNvSpPr txBox="1"/>
          <p:nvPr/>
        </p:nvSpPr>
        <p:spPr>
          <a:xfrm>
            <a:off x="8420313" y="3457575"/>
            <a:ext cx="813494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Year 0</a:t>
            </a:r>
            <a:endParaRPr/>
          </a:p>
        </p:txBody>
      </p:sp>
      <p:sp>
        <p:nvSpPr>
          <p:cNvPr id="355" name="Google Shape;355;p20"/>
          <p:cNvSpPr txBox="1"/>
          <p:nvPr/>
        </p:nvSpPr>
        <p:spPr>
          <a:xfrm>
            <a:off x="8420313" y="3638550"/>
            <a:ext cx="813494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Equity deployed</a:t>
            </a:r>
            <a:endParaRPr/>
          </a:p>
        </p:txBody>
      </p:sp>
      <p:sp>
        <p:nvSpPr>
          <p:cNvPr id="356" name="Google Shape;356;p20"/>
          <p:cNvSpPr txBox="1"/>
          <p:nvPr/>
        </p:nvSpPr>
        <p:spPr>
          <a:xfrm>
            <a:off x="9407490" y="3000375"/>
            <a:ext cx="72836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Dividends</a:t>
            </a:r>
            <a:endParaRPr/>
          </a:p>
        </p:txBody>
      </p:sp>
      <p:sp>
        <p:nvSpPr>
          <p:cNvPr id="357" name="Google Shape;357;p20"/>
          <p:cNvSpPr txBox="1"/>
          <p:nvPr/>
        </p:nvSpPr>
        <p:spPr>
          <a:xfrm>
            <a:off x="9299441" y="3457575"/>
            <a:ext cx="944463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Year 1</a:t>
            </a:r>
            <a:endParaRPr/>
          </a:p>
        </p:txBody>
      </p:sp>
      <p:sp>
        <p:nvSpPr>
          <p:cNvPr id="358" name="Google Shape;358;p20"/>
          <p:cNvSpPr txBox="1"/>
          <p:nvPr/>
        </p:nvSpPr>
        <p:spPr>
          <a:xfrm>
            <a:off x="9299441" y="3638550"/>
            <a:ext cx="944463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50% net income distributed</a:t>
            </a:r>
            <a:endParaRPr/>
          </a:p>
        </p:txBody>
      </p:sp>
      <p:sp>
        <p:nvSpPr>
          <p:cNvPr id="359" name="Google Shape;359;p20"/>
          <p:cNvSpPr txBox="1"/>
          <p:nvPr/>
        </p:nvSpPr>
        <p:spPr>
          <a:xfrm>
            <a:off x="10352102" y="3000375"/>
            <a:ext cx="728364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Dividends</a:t>
            </a:r>
            <a:endParaRPr/>
          </a:p>
        </p:txBody>
      </p:sp>
      <p:sp>
        <p:nvSpPr>
          <p:cNvPr id="360" name="Google Shape;360;p20"/>
          <p:cNvSpPr txBox="1"/>
          <p:nvPr/>
        </p:nvSpPr>
        <p:spPr>
          <a:xfrm>
            <a:off x="10244053" y="3457575"/>
            <a:ext cx="944463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Year 2</a:t>
            </a:r>
            <a:endParaRPr/>
          </a:p>
        </p:txBody>
      </p:sp>
      <p:sp>
        <p:nvSpPr>
          <p:cNvPr id="361" name="Google Shape;361;p20"/>
          <p:cNvSpPr txBox="1"/>
          <p:nvPr/>
        </p:nvSpPr>
        <p:spPr>
          <a:xfrm>
            <a:off x="10244053" y="3638550"/>
            <a:ext cx="944463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50% net income distributed</a:t>
            </a:r>
            <a:endParaRPr/>
          </a:p>
        </p:txBody>
      </p:sp>
      <p:sp>
        <p:nvSpPr>
          <p:cNvPr id="362" name="Google Shape;362;p20"/>
          <p:cNvSpPr txBox="1"/>
          <p:nvPr/>
        </p:nvSpPr>
        <p:spPr>
          <a:xfrm>
            <a:off x="11180033" y="2943225"/>
            <a:ext cx="961727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75" b="1" i="0" u="none" strike="noStrike" cap="none">
                <a:solidFill>
                  <a:srgbClr val="00D4A0"/>
                </a:solidFill>
                <a:latin typeface="Calibri"/>
                <a:ea typeface="Calibri"/>
                <a:cs typeface="Calibri"/>
                <a:sym typeface="Calibri"/>
              </a:rPr>
              <a:t>Exit + Dividends</a:t>
            </a:r>
            <a:endParaRPr/>
          </a:p>
        </p:txBody>
      </p:sp>
      <p:sp>
        <p:nvSpPr>
          <p:cNvPr id="363" name="Google Shape;363;p20"/>
          <p:cNvSpPr txBox="1"/>
          <p:nvPr/>
        </p:nvSpPr>
        <p:spPr>
          <a:xfrm>
            <a:off x="11331614" y="3457575"/>
            <a:ext cx="658564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Year 3</a:t>
            </a:r>
            <a:endParaRPr/>
          </a:p>
        </p:txBody>
      </p:sp>
      <p:sp>
        <p:nvSpPr>
          <p:cNvPr id="364" name="Google Shape;364;p20"/>
          <p:cNvSpPr txBox="1"/>
          <p:nvPr/>
        </p:nvSpPr>
        <p:spPr>
          <a:xfrm>
            <a:off x="11331614" y="3638550"/>
            <a:ext cx="658564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Terminal value + Year 3 dividends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9" name="Google Shape;369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638925"/>
            <a:ext cx="1219200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0" name="Google Shape;370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28625" y="952500"/>
            <a:ext cx="2755106" cy="4714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1" name="Google Shape;371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288506" y="952500"/>
            <a:ext cx="2755106" cy="4714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2" name="Google Shape;372;p2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148387" y="952500"/>
            <a:ext cx="2755106" cy="4714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3" name="Google Shape;373;p2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008268" y="952500"/>
            <a:ext cx="2755106" cy="4714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4" name="Google Shape;374;p21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38150" y="5372100"/>
            <a:ext cx="2736056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5" name="Google Shape;375;p21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298031" y="5372100"/>
            <a:ext cx="2736056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6" name="Google Shape;376;p21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157912" y="5372100"/>
            <a:ext cx="2736056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7" name="Google Shape;377;p21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9017793" y="5372100"/>
            <a:ext cx="2736056" cy="285750"/>
          </a:xfrm>
          <a:prstGeom prst="rect">
            <a:avLst/>
          </a:prstGeom>
          <a:noFill/>
          <a:ln>
            <a:noFill/>
          </a:ln>
        </p:spPr>
      </p:pic>
      <p:sp>
        <p:nvSpPr>
          <p:cNvPr id="378" name="Google Shape;378;p21"/>
          <p:cNvSpPr/>
          <p:nvPr/>
        </p:nvSpPr>
        <p:spPr>
          <a:xfrm>
            <a:off x="361950" y="647700"/>
            <a:ext cx="11468100" cy="9525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21"/>
          <p:cNvSpPr txBox="1"/>
          <p:nvPr/>
        </p:nvSpPr>
        <p:spPr>
          <a:xfrm>
            <a:off x="0" y="6315075"/>
            <a:ext cx="12192000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Macro elasticities calibrated from 10 years of CBK NPL historical data | Unemployment: 0.18 | Inflation: 0.08 | Policy Rate: 0.12</a:t>
            </a:r>
            <a:endParaRPr/>
          </a:p>
        </p:txBody>
      </p:sp>
      <p:sp>
        <p:nvSpPr>
          <p:cNvPr id="380" name="Google Shape;380;p21"/>
          <p:cNvSpPr txBox="1"/>
          <p:nvPr/>
        </p:nvSpPr>
        <p:spPr>
          <a:xfrm>
            <a:off x="428625" y="142875"/>
            <a:ext cx="1133475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STRESS TESTING</a:t>
            </a:r>
            <a:endParaRPr/>
          </a:p>
        </p:txBody>
      </p:sp>
      <p:sp>
        <p:nvSpPr>
          <p:cNvPr id="381" name="Google Shape;381;p21"/>
          <p:cNvSpPr txBox="1"/>
          <p:nvPr/>
        </p:nvSpPr>
        <p:spPr>
          <a:xfrm>
            <a:off x="428625" y="285750"/>
            <a:ext cx="11334750" cy="3875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998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4 Historical Scenarios | Kenya Macro Events 2008–2024</a:t>
            </a:r>
            <a:endParaRPr/>
          </a:p>
        </p:txBody>
      </p:sp>
      <p:sp>
        <p:nvSpPr>
          <p:cNvPr id="382" name="Google Shape;382;p21"/>
          <p:cNvSpPr txBox="1"/>
          <p:nvPr/>
        </p:nvSpPr>
        <p:spPr>
          <a:xfrm>
            <a:off x="428625" y="6700837"/>
            <a:ext cx="2571750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Kenya Digital Lending — Investment Due Diligence | February 2026</a:t>
            </a:r>
            <a:endParaRPr/>
          </a:p>
        </p:txBody>
      </p:sp>
      <p:sp>
        <p:nvSpPr>
          <p:cNvPr id="383" name="Google Shape;383;p21"/>
          <p:cNvSpPr txBox="1"/>
          <p:nvPr/>
        </p:nvSpPr>
        <p:spPr>
          <a:xfrm>
            <a:off x="11715601" y="6700837"/>
            <a:ext cx="47773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/>
          </a:p>
        </p:txBody>
      </p:sp>
      <p:sp>
        <p:nvSpPr>
          <p:cNvPr id="384" name="Google Shape;384;p21"/>
          <p:cNvSpPr/>
          <p:nvPr/>
        </p:nvSpPr>
        <p:spPr>
          <a:xfrm>
            <a:off x="438150" y="962025"/>
            <a:ext cx="2736056" cy="142875"/>
          </a:xfrm>
          <a:prstGeom prst="rect">
            <a:avLst/>
          </a:prstGeom>
          <a:solidFill>
            <a:srgbClr val="00D4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21"/>
          <p:cNvSpPr txBox="1"/>
          <p:nvPr/>
        </p:nvSpPr>
        <p:spPr>
          <a:xfrm>
            <a:off x="1420564" y="1247775"/>
            <a:ext cx="771078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Base Case</a:t>
            </a:r>
            <a:endParaRPr/>
          </a:p>
        </p:txBody>
      </p:sp>
      <p:sp>
        <p:nvSpPr>
          <p:cNvPr id="386" name="Google Shape;386;p21"/>
          <p:cNvSpPr txBox="1"/>
          <p:nvPr/>
        </p:nvSpPr>
        <p:spPr>
          <a:xfrm>
            <a:off x="1265932" y="1419225"/>
            <a:ext cx="1080343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Kenya 2024 Baseline</a:t>
            </a:r>
            <a:endParaRPr/>
          </a:p>
        </p:txBody>
      </p:sp>
      <p:sp>
        <p:nvSpPr>
          <p:cNvPr id="387" name="Google Shape;387;p21"/>
          <p:cNvSpPr/>
          <p:nvPr/>
        </p:nvSpPr>
        <p:spPr>
          <a:xfrm>
            <a:off x="438150" y="1695450"/>
            <a:ext cx="2736056" cy="9525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21"/>
          <p:cNvSpPr/>
          <p:nvPr/>
        </p:nvSpPr>
        <p:spPr>
          <a:xfrm>
            <a:off x="438150" y="4438650"/>
            <a:ext cx="2736056" cy="9525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21"/>
          <p:cNvSpPr/>
          <p:nvPr/>
        </p:nvSpPr>
        <p:spPr>
          <a:xfrm>
            <a:off x="3298031" y="962025"/>
            <a:ext cx="2736056" cy="142875"/>
          </a:xfrm>
          <a:prstGeom prst="rect">
            <a:avLst/>
          </a:prstGeom>
          <a:solidFill>
            <a:srgbClr val="00D4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21"/>
          <p:cNvSpPr txBox="1"/>
          <p:nvPr/>
        </p:nvSpPr>
        <p:spPr>
          <a:xfrm>
            <a:off x="4111228" y="1247775"/>
            <a:ext cx="1109513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Mild Recession</a:t>
            </a:r>
            <a:endParaRPr/>
          </a:p>
        </p:txBody>
      </p:sp>
      <p:sp>
        <p:nvSpPr>
          <p:cNvPr id="391" name="Google Shape;391;p21"/>
          <p:cNvSpPr txBox="1"/>
          <p:nvPr/>
        </p:nvSpPr>
        <p:spPr>
          <a:xfrm>
            <a:off x="3800326" y="1419225"/>
            <a:ext cx="1731466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Kenya 2017 — Drought + Election</a:t>
            </a:r>
            <a:endParaRPr/>
          </a:p>
        </p:txBody>
      </p:sp>
      <p:sp>
        <p:nvSpPr>
          <p:cNvPr id="392" name="Google Shape;392;p21"/>
          <p:cNvSpPr/>
          <p:nvPr/>
        </p:nvSpPr>
        <p:spPr>
          <a:xfrm>
            <a:off x="3298031" y="1695450"/>
            <a:ext cx="2736056" cy="9525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21"/>
          <p:cNvSpPr/>
          <p:nvPr/>
        </p:nvSpPr>
        <p:spPr>
          <a:xfrm>
            <a:off x="3298031" y="4438650"/>
            <a:ext cx="2736056" cy="9525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21"/>
          <p:cNvSpPr/>
          <p:nvPr/>
        </p:nvSpPr>
        <p:spPr>
          <a:xfrm>
            <a:off x="6157912" y="962025"/>
            <a:ext cx="2736056" cy="142875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21"/>
          <p:cNvSpPr txBox="1"/>
          <p:nvPr/>
        </p:nvSpPr>
        <p:spPr>
          <a:xfrm>
            <a:off x="6873478" y="1247775"/>
            <a:ext cx="1304776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Severe Recession</a:t>
            </a:r>
            <a:endParaRPr/>
          </a:p>
        </p:txBody>
      </p:sp>
      <p:sp>
        <p:nvSpPr>
          <p:cNvPr id="396" name="Google Shape;396;p21"/>
          <p:cNvSpPr txBox="1"/>
          <p:nvPr/>
        </p:nvSpPr>
        <p:spPr>
          <a:xfrm>
            <a:off x="6636543" y="1419225"/>
            <a:ext cx="1778793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Kenya 2008 — Post-Election Crisis</a:t>
            </a:r>
            <a:endParaRPr/>
          </a:p>
        </p:txBody>
      </p:sp>
      <p:sp>
        <p:nvSpPr>
          <p:cNvPr id="397" name="Google Shape;397;p21"/>
          <p:cNvSpPr/>
          <p:nvPr/>
        </p:nvSpPr>
        <p:spPr>
          <a:xfrm>
            <a:off x="6157912" y="1695450"/>
            <a:ext cx="2736056" cy="9525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21"/>
          <p:cNvSpPr/>
          <p:nvPr/>
        </p:nvSpPr>
        <p:spPr>
          <a:xfrm>
            <a:off x="6157912" y="4429125"/>
            <a:ext cx="2736056" cy="9525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21"/>
          <p:cNvSpPr/>
          <p:nvPr/>
        </p:nvSpPr>
        <p:spPr>
          <a:xfrm>
            <a:off x="9017793" y="962025"/>
            <a:ext cx="2736056" cy="142875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21"/>
          <p:cNvSpPr txBox="1"/>
          <p:nvPr/>
        </p:nvSpPr>
        <p:spPr>
          <a:xfrm>
            <a:off x="9809857" y="1247775"/>
            <a:ext cx="115178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APR Cap Shock</a:t>
            </a:r>
            <a:endParaRPr/>
          </a:p>
        </p:txBody>
      </p:sp>
      <p:sp>
        <p:nvSpPr>
          <p:cNvPr id="401" name="Google Shape;401;p21"/>
          <p:cNvSpPr txBox="1"/>
          <p:nvPr/>
        </p:nvSpPr>
        <p:spPr>
          <a:xfrm>
            <a:off x="9369176" y="1419225"/>
            <a:ext cx="2033289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Kenya 2016 — Banking Amendment Act</a:t>
            </a:r>
            <a:endParaRPr/>
          </a:p>
        </p:txBody>
      </p:sp>
      <p:sp>
        <p:nvSpPr>
          <p:cNvPr id="402" name="Google Shape;402;p21"/>
          <p:cNvSpPr/>
          <p:nvPr/>
        </p:nvSpPr>
        <p:spPr>
          <a:xfrm>
            <a:off x="9017793" y="1695450"/>
            <a:ext cx="2736056" cy="9525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21"/>
          <p:cNvSpPr/>
          <p:nvPr/>
        </p:nvSpPr>
        <p:spPr>
          <a:xfrm>
            <a:off x="9017793" y="4429125"/>
            <a:ext cx="2736056" cy="9525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21"/>
          <p:cNvSpPr txBox="1"/>
          <p:nvPr/>
        </p:nvSpPr>
        <p:spPr>
          <a:xfrm>
            <a:off x="1208484" y="4638675"/>
            <a:ext cx="1195387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75" b="1" i="0" u="none" strike="noStrike" cap="none">
                <a:solidFill>
                  <a:srgbClr val="00D4A0"/>
                </a:solidFill>
                <a:latin typeface="Calibri"/>
                <a:ea typeface="Calibri"/>
                <a:cs typeface="Calibri"/>
                <a:sym typeface="Calibri"/>
              </a:rPr>
              <a:t>102.4%</a:t>
            </a:r>
            <a:endParaRPr/>
          </a:p>
        </p:txBody>
      </p:sp>
      <p:sp>
        <p:nvSpPr>
          <p:cNvPr id="405" name="Google Shape;405;p21"/>
          <p:cNvSpPr txBox="1"/>
          <p:nvPr/>
        </p:nvSpPr>
        <p:spPr>
          <a:xfrm>
            <a:off x="1517153" y="5038725"/>
            <a:ext cx="577899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Gross IRR</a:t>
            </a:r>
            <a:endParaRPr/>
          </a:p>
        </p:txBody>
      </p:sp>
      <p:sp>
        <p:nvSpPr>
          <p:cNvPr id="406" name="Google Shape;406;p21"/>
          <p:cNvSpPr txBox="1"/>
          <p:nvPr/>
        </p:nvSpPr>
        <p:spPr>
          <a:xfrm>
            <a:off x="4166294" y="4638675"/>
            <a:ext cx="99938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75" b="1" i="0" u="none" strike="noStrike" cap="none">
                <a:solidFill>
                  <a:srgbClr val="00D4A0"/>
                </a:solidFill>
                <a:latin typeface="Calibri"/>
                <a:ea typeface="Calibri"/>
                <a:cs typeface="Calibri"/>
                <a:sym typeface="Calibri"/>
              </a:rPr>
              <a:t>57.5%</a:t>
            </a:r>
            <a:endParaRPr/>
          </a:p>
        </p:txBody>
      </p:sp>
      <p:sp>
        <p:nvSpPr>
          <p:cNvPr id="407" name="Google Shape;407;p21"/>
          <p:cNvSpPr txBox="1"/>
          <p:nvPr/>
        </p:nvSpPr>
        <p:spPr>
          <a:xfrm>
            <a:off x="4377035" y="5038725"/>
            <a:ext cx="577899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Gross IRR</a:t>
            </a:r>
            <a:endParaRPr/>
          </a:p>
        </p:txBody>
      </p:sp>
      <p:sp>
        <p:nvSpPr>
          <p:cNvPr id="408" name="Google Shape;408;p21"/>
          <p:cNvSpPr txBox="1"/>
          <p:nvPr/>
        </p:nvSpPr>
        <p:spPr>
          <a:xfrm>
            <a:off x="7026175" y="4629150"/>
            <a:ext cx="99938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75" b="1" i="0" u="none" strike="noStrike" cap="non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27.2%</a:t>
            </a:r>
            <a:endParaRPr/>
          </a:p>
        </p:txBody>
      </p:sp>
      <p:sp>
        <p:nvSpPr>
          <p:cNvPr id="409" name="Google Shape;409;p21"/>
          <p:cNvSpPr txBox="1"/>
          <p:nvPr/>
        </p:nvSpPr>
        <p:spPr>
          <a:xfrm>
            <a:off x="7236916" y="5029200"/>
            <a:ext cx="577899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Gross IRR</a:t>
            </a:r>
            <a:endParaRPr/>
          </a:p>
        </p:txBody>
      </p:sp>
      <p:sp>
        <p:nvSpPr>
          <p:cNvPr id="410" name="Google Shape;410;p21"/>
          <p:cNvSpPr txBox="1"/>
          <p:nvPr/>
        </p:nvSpPr>
        <p:spPr>
          <a:xfrm>
            <a:off x="6957863" y="5210175"/>
            <a:ext cx="1136005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0.2pp above 25% hurdle</a:t>
            </a:r>
            <a:endParaRPr/>
          </a:p>
        </p:txBody>
      </p:sp>
      <p:sp>
        <p:nvSpPr>
          <p:cNvPr id="411" name="Google Shape;411;p21"/>
          <p:cNvSpPr txBox="1"/>
          <p:nvPr/>
        </p:nvSpPr>
        <p:spPr>
          <a:xfrm>
            <a:off x="9886057" y="4629150"/>
            <a:ext cx="99938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75" b="1" i="0" u="none" strike="noStrike" cap="none">
                <a:solidFill>
                  <a:srgbClr val="00D4A0"/>
                </a:solidFill>
                <a:latin typeface="Calibri"/>
                <a:ea typeface="Calibri"/>
                <a:cs typeface="Calibri"/>
                <a:sym typeface="Calibri"/>
              </a:rPr>
              <a:t>76.5%</a:t>
            </a:r>
            <a:endParaRPr/>
          </a:p>
        </p:txBody>
      </p:sp>
      <p:sp>
        <p:nvSpPr>
          <p:cNvPr id="412" name="Google Shape;412;p21"/>
          <p:cNvSpPr txBox="1"/>
          <p:nvPr/>
        </p:nvSpPr>
        <p:spPr>
          <a:xfrm>
            <a:off x="10096797" y="5029200"/>
            <a:ext cx="577899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Gross IRR</a:t>
            </a:r>
            <a:endParaRPr/>
          </a:p>
        </p:txBody>
      </p:sp>
      <p:sp>
        <p:nvSpPr>
          <p:cNvPr id="413" name="Google Shape;413;p21"/>
          <p:cNvSpPr txBox="1"/>
          <p:nvPr/>
        </p:nvSpPr>
        <p:spPr>
          <a:xfrm>
            <a:off x="9669363" y="5210175"/>
            <a:ext cx="1432768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Origination fee protects margin</a:t>
            </a:r>
            <a:endParaRPr/>
          </a:p>
        </p:txBody>
      </p:sp>
      <p:sp>
        <p:nvSpPr>
          <p:cNvPr id="414" name="Google Shape;414;p21"/>
          <p:cNvSpPr txBox="1"/>
          <p:nvPr/>
        </p:nvSpPr>
        <p:spPr>
          <a:xfrm>
            <a:off x="1512986" y="1847850"/>
            <a:ext cx="586233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25" b="1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8.2%</a:t>
            </a:r>
            <a:endParaRPr/>
          </a:p>
        </p:txBody>
      </p:sp>
      <p:sp>
        <p:nvSpPr>
          <p:cNvPr id="415" name="Google Shape;415;p21"/>
          <p:cNvSpPr txBox="1"/>
          <p:nvPr/>
        </p:nvSpPr>
        <p:spPr>
          <a:xfrm>
            <a:off x="1526530" y="2143125"/>
            <a:ext cx="559147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Portfolio PD</a:t>
            </a:r>
            <a:endParaRPr/>
          </a:p>
        </p:txBody>
      </p:sp>
      <p:sp>
        <p:nvSpPr>
          <p:cNvPr id="416" name="Google Shape;416;p21"/>
          <p:cNvSpPr txBox="1"/>
          <p:nvPr/>
        </p:nvSpPr>
        <p:spPr>
          <a:xfrm>
            <a:off x="1522511" y="2466975"/>
            <a:ext cx="567183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75" b="1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44.5%</a:t>
            </a:r>
            <a:endParaRPr/>
          </a:p>
        </p:txBody>
      </p:sp>
      <p:sp>
        <p:nvSpPr>
          <p:cNvPr id="417" name="Google Shape;417;p21"/>
          <p:cNvSpPr txBox="1"/>
          <p:nvPr/>
        </p:nvSpPr>
        <p:spPr>
          <a:xfrm>
            <a:off x="1698277" y="2695575"/>
            <a:ext cx="215503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LGD</a:t>
            </a:r>
            <a:endParaRPr/>
          </a:p>
        </p:txBody>
      </p:sp>
      <p:sp>
        <p:nvSpPr>
          <p:cNvPr id="418" name="Google Shape;418;p21"/>
          <p:cNvSpPr txBox="1"/>
          <p:nvPr/>
        </p:nvSpPr>
        <p:spPr>
          <a:xfrm>
            <a:off x="1522511" y="3019425"/>
            <a:ext cx="567183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75" b="1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31.7%</a:t>
            </a:r>
            <a:endParaRPr/>
          </a:p>
        </p:txBody>
      </p:sp>
      <p:sp>
        <p:nvSpPr>
          <p:cNvPr id="419" name="Google Shape;419;p21"/>
          <p:cNvSpPr txBox="1"/>
          <p:nvPr/>
        </p:nvSpPr>
        <p:spPr>
          <a:xfrm>
            <a:off x="1486792" y="3248025"/>
            <a:ext cx="638770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Effective APR</a:t>
            </a:r>
            <a:endParaRPr/>
          </a:p>
        </p:txBody>
      </p:sp>
      <p:sp>
        <p:nvSpPr>
          <p:cNvPr id="420" name="Google Shape;420;p21"/>
          <p:cNvSpPr txBox="1"/>
          <p:nvPr/>
        </p:nvSpPr>
        <p:spPr>
          <a:xfrm>
            <a:off x="4301430" y="1847850"/>
            <a:ext cx="729257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25" b="1" i="0" u="none" strike="noStrike" cap="non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14.6%</a:t>
            </a:r>
            <a:endParaRPr/>
          </a:p>
        </p:txBody>
      </p:sp>
      <p:sp>
        <p:nvSpPr>
          <p:cNvPr id="421" name="Google Shape;421;p21"/>
          <p:cNvSpPr txBox="1"/>
          <p:nvPr/>
        </p:nvSpPr>
        <p:spPr>
          <a:xfrm>
            <a:off x="4386411" y="2143125"/>
            <a:ext cx="559147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Portfolio PD</a:t>
            </a:r>
            <a:endParaRPr/>
          </a:p>
        </p:txBody>
      </p:sp>
      <p:sp>
        <p:nvSpPr>
          <p:cNvPr id="422" name="Google Shape;422;p21"/>
          <p:cNvSpPr txBox="1"/>
          <p:nvPr/>
        </p:nvSpPr>
        <p:spPr>
          <a:xfrm>
            <a:off x="4382392" y="2466975"/>
            <a:ext cx="567183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75" b="1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44.5%</a:t>
            </a:r>
            <a:endParaRPr/>
          </a:p>
        </p:txBody>
      </p:sp>
      <p:sp>
        <p:nvSpPr>
          <p:cNvPr id="423" name="Google Shape;423;p21"/>
          <p:cNvSpPr txBox="1"/>
          <p:nvPr/>
        </p:nvSpPr>
        <p:spPr>
          <a:xfrm>
            <a:off x="4558158" y="2695575"/>
            <a:ext cx="215503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LGD</a:t>
            </a:r>
            <a:endParaRPr/>
          </a:p>
        </p:txBody>
      </p:sp>
      <p:sp>
        <p:nvSpPr>
          <p:cNvPr id="424" name="Google Shape;424;p21"/>
          <p:cNvSpPr txBox="1"/>
          <p:nvPr/>
        </p:nvSpPr>
        <p:spPr>
          <a:xfrm>
            <a:off x="4382392" y="3019425"/>
            <a:ext cx="567183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75" b="1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31.7%</a:t>
            </a:r>
            <a:endParaRPr/>
          </a:p>
        </p:txBody>
      </p:sp>
      <p:sp>
        <p:nvSpPr>
          <p:cNvPr id="425" name="Google Shape;425;p21"/>
          <p:cNvSpPr txBox="1"/>
          <p:nvPr/>
        </p:nvSpPr>
        <p:spPr>
          <a:xfrm>
            <a:off x="4346674" y="3248025"/>
            <a:ext cx="638770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Effective APR</a:t>
            </a:r>
            <a:endParaRPr/>
          </a:p>
        </p:txBody>
      </p:sp>
      <p:sp>
        <p:nvSpPr>
          <p:cNvPr id="426" name="Google Shape;426;p21"/>
          <p:cNvSpPr txBox="1"/>
          <p:nvPr/>
        </p:nvSpPr>
        <p:spPr>
          <a:xfrm>
            <a:off x="7161311" y="1847850"/>
            <a:ext cx="729257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25" b="1" i="0" u="none" strike="noStrike" cap="none">
                <a:solidFill>
                  <a:srgbClr val="E84040"/>
                </a:solidFill>
                <a:latin typeface="Calibri"/>
                <a:ea typeface="Calibri"/>
                <a:cs typeface="Calibri"/>
                <a:sym typeface="Calibri"/>
              </a:rPr>
              <a:t>23.5%</a:t>
            </a:r>
            <a:endParaRPr/>
          </a:p>
        </p:txBody>
      </p:sp>
      <p:sp>
        <p:nvSpPr>
          <p:cNvPr id="427" name="Google Shape;427;p21"/>
          <p:cNvSpPr txBox="1"/>
          <p:nvPr/>
        </p:nvSpPr>
        <p:spPr>
          <a:xfrm>
            <a:off x="7246292" y="2143125"/>
            <a:ext cx="559147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Portfolio PD</a:t>
            </a:r>
            <a:endParaRPr/>
          </a:p>
        </p:txBody>
      </p:sp>
      <p:sp>
        <p:nvSpPr>
          <p:cNvPr id="428" name="Google Shape;428;p21"/>
          <p:cNvSpPr txBox="1"/>
          <p:nvPr/>
        </p:nvSpPr>
        <p:spPr>
          <a:xfrm>
            <a:off x="7242274" y="2466975"/>
            <a:ext cx="567183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75" b="1" i="0" u="none" strike="noStrike" cap="non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54.5%</a:t>
            </a:r>
            <a:endParaRPr/>
          </a:p>
        </p:txBody>
      </p:sp>
      <p:sp>
        <p:nvSpPr>
          <p:cNvPr id="429" name="Google Shape;429;p21"/>
          <p:cNvSpPr txBox="1"/>
          <p:nvPr/>
        </p:nvSpPr>
        <p:spPr>
          <a:xfrm>
            <a:off x="7418040" y="2695575"/>
            <a:ext cx="215503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LGD</a:t>
            </a:r>
            <a:endParaRPr/>
          </a:p>
        </p:txBody>
      </p:sp>
      <p:sp>
        <p:nvSpPr>
          <p:cNvPr id="430" name="Google Shape;430;p21"/>
          <p:cNvSpPr txBox="1"/>
          <p:nvPr/>
        </p:nvSpPr>
        <p:spPr>
          <a:xfrm>
            <a:off x="7242274" y="3019425"/>
            <a:ext cx="567183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75" b="1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31.7%</a:t>
            </a:r>
            <a:endParaRPr/>
          </a:p>
        </p:txBody>
      </p:sp>
      <p:sp>
        <p:nvSpPr>
          <p:cNvPr id="431" name="Google Shape;431;p21"/>
          <p:cNvSpPr txBox="1"/>
          <p:nvPr/>
        </p:nvSpPr>
        <p:spPr>
          <a:xfrm>
            <a:off x="7206555" y="3248025"/>
            <a:ext cx="638770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Effective APR</a:t>
            </a:r>
            <a:endParaRPr/>
          </a:p>
        </p:txBody>
      </p:sp>
      <p:sp>
        <p:nvSpPr>
          <p:cNvPr id="432" name="Google Shape;432;p21"/>
          <p:cNvSpPr txBox="1"/>
          <p:nvPr/>
        </p:nvSpPr>
        <p:spPr>
          <a:xfrm>
            <a:off x="10092630" y="1847850"/>
            <a:ext cx="586233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25" b="1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8.2%</a:t>
            </a:r>
            <a:endParaRPr/>
          </a:p>
        </p:txBody>
      </p:sp>
      <p:sp>
        <p:nvSpPr>
          <p:cNvPr id="433" name="Google Shape;433;p21"/>
          <p:cNvSpPr txBox="1"/>
          <p:nvPr/>
        </p:nvSpPr>
        <p:spPr>
          <a:xfrm>
            <a:off x="10106173" y="2143125"/>
            <a:ext cx="559147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Portfolio PD</a:t>
            </a:r>
            <a:endParaRPr/>
          </a:p>
        </p:txBody>
      </p:sp>
      <p:sp>
        <p:nvSpPr>
          <p:cNvPr id="434" name="Google Shape;434;p21"/>
          <p:cNvSpPr txBox="1"/>
          <p:nvPr/>
        </p:nvSpPr>
        <p:spPr>
          <a:xfrm>
            <a:off x="10102155" y="2466975"/>
            <a:ext cx="567183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75" b="1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44.5%</a:t>
            </a:r>
            <a:endParaRPr/>
          </a:p>
        </p:txBody>
      </p:sp>
      <p:sp>
        <p:nvSpPr>
          <p:cNvPr id="435" name="Google Shape;435;p21"/>
          <p:cNvSpPr txBox="1"/>
          <p:nvPr/>
        </p:nvSpPr>
        <p:spPr>
          <a:xfrm>
            <a:off x="10277921" y="2695575"/>
            <a:ext cx="215503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LGD</a:t>
            </a:r>
            <a:endParaRPr/>
          </a:p>
        </p:txBody>
      </p:sp>
      <p:sp>
        <p:nvSpPr>
          <p:cNvPr id="436" name="Google Shape;436;p21"/>
          <p:cNvSpPr txBox="1"/>
          <p:nvPr/>
        </p:nvSpPr>
        <p:spPr>
          <a:xfrm>
            <a:off x="10102155" y="3019425"/>
            <a:ext cx="567183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75" b="1" i="0" u="none" strike="noStrike" cap="none">
                <a:solidFill>
                  <a:srgbClr val="E84040"/>
                </a:solidFill>
                <a:latin typeface="Calibri"/>
                <a:ea typeface="Calibri"/>
                <a:cs typeface="Calibri"/>
                <a:sym typeface="Calibri"/>
              </a:rPr>
              <a:t>23.7%</a:t>
            </a:r>
            <a:endParaRPr/>
          </a:p>
        </p:txBody>
      </p:sp>
      <p:sp>
        <p:nvSpPr>
          <p:cNvPr id="437" name="Google Shape;437;p21"/>
          <p:cNvSpPr txBox="1"/>
          <p:nvPr/>
        </p:nvSpPr>
        <p:spPr>
          <a:xfrm>
            <a:off x="10066436" y="3248025"/>
            <a:ext cx="638770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Effective APR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2" name="Google Shape;442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638925"/>
            <a:ext cx="1219200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3" name="Google Shape;443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28625" y="952500"/>
            <a:ext cx="7191375" cy="4857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4" name="Google Shape;444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810500" y="952500"/>
            <a:ext cx="3952875" cy="68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5" name="Google Shape;445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810500" y="1714500"/>
            <a:ext cx="3952875" cy="68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6" name="Google Shape;446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810500" y="2476500"/>
            <a:ext cx="3952875" cy="68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7" name="Google Shape;447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810500" y="3238500"/>
            <a:ext cx="3952875" cy="68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8" name="Google Shape;448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810500" y="4000500"/>
            <a:ext cx="3952875" cy="68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9" name="Google Shape;449;p22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810500" y="4762500"/>
            <a:ext cx="3952875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450" name="Google Shape;450;p22"/>
          <p:cNvSpPr/>
          <p:nvPr/>
        </p:nvSpPr>
        <p:spPr>
          <a:xfrm>
            <a:off x="361950" y="647700"/>
            <a:ext cx="11468100" cy="9525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22"/>
          <p:cNvSpPr txBox="1"/>
          <p:nvPr/>
        </p:nvSpPr>
        <p:spPr>
          <a:xfrm>
            <a:off x="428625" y="142875"/>
            <a:ext cx="1133475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PROBABILISTIC RISK</a:t>
            </a:r>
            <a:endParaRPr/>
          </a:p>
        </p:txBody>
      </p:sp>
      <p:sp>
        <p:nvSpPr>
          <p:cNvPr id="452" name="Google Shape;452;p22"/>
          <p:cNvSpPr txBox="1"/>
          <p:nvPr/>
        </p:nvSpPr>
        <p:spPr>
          <a:xfrm>
            <a:off x="428625" y="285750"/>
            <a:ext cx="11334750" cy="775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998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Monte Carlo Simulation | 10,000 Paths | Kenya Historical Distributions</a:t>
            </a:r>
            <a:endParaRPr/>
          </a:p>
        </p:txBody>
      </p:sp>
      <p:sp>
        <p:nvSpPr>
          <p:cNvPr id="453" name="Google Shape;453;p22"/>
          <p:cNvSpPr txBox="1"/>
          <p:nvPr/>
        </p:nvSpPr>
        <p:spPr>
          <a:xfrm>
            <a:off x="428625" y="6700837"/>
            <a:ext cx="2571750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Kenya Digital Lending — Investment Due Diligence | February 2026</a:t>
            </a:r>
            <a:endParaRPr/>
          </a:p>
        </p:txBody>
      </p:sp>
      <p:sp>
        <p:nvSpPr>
          <p:cNvPr id="454" name="Google Shape;454;p22"/>
          <p:cNvSpPr txBox="1"/>
          <p:nvPr/>
        </p:nvSpPr>
        <p:spPr>
          <a:xfrm>
            <a:off x="11667976" y="6700837"/>
            <a:ext cx="95398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  <p:sp>
        <p:nvSpPr>
          <p:cNvPr id="455" name="Google Shape;455;p22"/>
          <p:cNvSpPr txBox="1"/>
          <p:nvPr/>
        </p:nvSpPr>
        <p:spPr>
          <a:xfrm>
            <a:off x="581025" y="1104900"/>
            <a:ext cx="6886575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IRR Distribution — 10,000 Monte Carlo Simulations</a:t>
            </a:r>
            <a:endParaRPr/>
          </a:p>
        </p:txBody>
      </p:sp>
      <p:sp>
        <p:nvSpPr>
          <p:cNvPr id="456" name="Google Shape;456;p22"/>
          <p:cNvSpPr txBox="1"/>
          <p:nvPr/>
        </p:nvSpPr>
        <p:spPr>
          <a:xfrm>
            <a:off x="7915275" y="962025"/>
            <a:ext cx="1535310" cy="6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86.7%</a:t>
            </a:r>
            <a:endParaRPr/>
          </a:p>
        </p:txBody>
      </p:sp>
      <p:sp>
        <p:nvSpPr>
          <p:cNvPr id="457" name="Google Shape;457;p22"/>
          <p:cNvSpPr/>
          <p:nvPr/>
        </p:nvSpPr>
        <p:spPr>
          <a:xfrm>
            <a:off x="9441060" y="962025"/>
            <a:ext cx="9525" cy="666750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22"/>
          <p:cNvSpPr txBox="1"/>
          <p:nvPr/>
        </p:nvSpPr>
        <p:spPr>
          <a:xfrm>
            <a:off x="7915275" y="1724025"/>
            <a:ext cx="1535310" cy="6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65.1%</a:t>
            </a:r>
            <a:endParaRPr/>
          </a:p>
        </p:txBody>
      </p:sp>
      <p:sp>
        <p:nvSpPr>
          <p:cNvPr id="459" name="Google Shape;459;p22"/>
          <p:cNvSpPr/>
          <p:nvPr/>
        </p:nvSpPr>
        <p:spPr>
          <a:xfrm>
            <a:off x="9441060" y="1724025"/>
            <a:ext cx="9525" cy="666750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22"/>
          <p:cNvSpPr txBox="1"/>
          <p:nvPr/>
        </p:nvSpPr>
        <p:spPr>
          <a:xfrm>
            <a:off x="7915275" y="2486025"/>
            <a:ext cx="1535310" cy="6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0.0%</a:t>
            </a:r>
            <a:endParaRPr/>
          </a:p>
        </p:txBody>
      </p:sp>
      <p:sp>
        <p:nvSpPr>
          <p:cNvPr id="461" name="Google Shape;461;p22"/>
          <p:cNvSpPr/>
          <p:nvPr/>
        </p:nvSpPr>
        <p:spPr>
          <a:xfrm>
            <a:off x="9441060" y="2486025"/>
            <a:ext cx="9525" cy="666750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22"/>
          <p:cNvSpPr txBox="1"/>
          <p:nvPr/>
        </p:nvSpPr>
        <p:spPr>
          <a:xfrm>
            <a:off x="7915275" y="3248025"/>
            <a:ext cx="1535310" cy="6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~40%</a:t>
            </a:r>
            <a:endParaRPr/>
          </a:p>
        </p:txBody>
      </p:sp>
      <p:sp>
        <p:nvSpPr>
          <p:cNvPr id="463" name="Google Shape;463;p22"/>
          <p:cNvSpPr/>
          <p:nvPr/>
        </p:nvSpPr>
        <p:spPr>
          <a:xfrm>
            <a:off x="9441060" y="3248025"/>
            <a:ext cx="9525" cy="666750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22"/>
          <p:cNvSpPr txBox="1"/>
          <p:nvPr/>
        </p:nvSpPr>
        <p:spPr>
          <a:xfrm>
            <a:off x="7915275" y="4010025"/>
            <a:ext cx="1535310" cy="6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10,000</a:t>
            </a:r>
            <a:endParaRPr/>
          </a:p>
        </p:txBody>
      </p:sp>
      <p:sp>
        <p:nvSpPr>
          <p:cNvPr id="465" name="Google Shape;465;p22"/>
          <p:cNvSpPr/>
          <p:nvPr/>
        </p:nvSpPr>
        <p:spPr>
          <a:xfrm>
            <a:off x="9441060" y="4010025"/>
            <a:ext cx="9525" cy="666750"/>
          </a:xfrm>
          <a:prstGeom prst="rect">
            <a:avLst/>
          </a:prstGeom>
          <a:solidFill>
            <a:srgbClr val="1C233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22"/>
          <p:cNvSpPr txBox="1"/>
          <p:nvPr/>
        </p:nvSpPr>
        <p:spPr>
          <a:xfrm>
            <a:off x="8032253" y="4972050"/>
            <a:ext cx="3509367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00D4A0"/>
                </a:solidFill>
                <a:latin typeface="Calibri"/>
                <a:ea typeface="Calibri"/>
                <a:cs typeface="Calibri"/>
                <a:sym typeface="Calibri"/>
              </a:rPr>
              <a:t>ZERO of 10,000 simulations produced a capital loss</a:t>
            </a:r>
            <a:endParaRPr/>
          </a:p>
        </p:txBody>
      </p:sp>
      <p:sp>
        <p:nvSpPr>
          <p:cNvPr id="467" name="Google Shape;467;p22"/>
          <p:cNvSpPr txBox="1"/>
          <p:nvPr/>
        </p:nvSpPr>
        <p:spPr>
          <a:xfrm>
            <a:off x="7924800" y="5181600"/>
            <a:ext cx="3724275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The investment is robust across all historically plausible Kenya macro scenarios</a:t>
            </a:r>
            <a:endParaRPr/>
          </a:p>
        </p:txBody>
      </p:sp>
      <p:sp>
        <p:nvSpPr>
          <p:cNvPr id="468" name="Google Shape;468;p22"/>
          <p:cNvSpPr/>
          <p:nvPr/>
        </p:nvSpPr>
        <p:spPr>
          <a:xfrm>
            <a:off x="1777454" y="5538787"/>
            <a:ext cx="104775" cy="104775"/>
          </a:xfrm>
          <a:prstGeom prst="roundRect">
            <a:avLst>
              <a:gd name="adj" fmla="val 50000"/>
            </a:avLst>
          </a:prstGeom>
          <a:solidFill>
            <a:srgbClr val="00D4A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22"/>
          <p:cNvSpPr txBox="1"/>
          <p:nvPr/>
        </p:nvSpPr>
        <p:spPr>
          <a:xfrm>
            <a:off x="1929854" y="5524500"/>
            <a:ext cx="1661368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Investment Grade (&gt;25% hurdle)</a:t>
            </a:r>
            <a:endParaRPr/>
          </a:p>
        </p:txBody>
      </p:sp>
      <p:sp>
        <p:nvSpPr>
          <p:cNvPr id="470" name="Google Shape;470;p22"/>
          <p:cNvSpPr/>
          <p:nvPr/>
        </p:nvSpPr>
        <p:spPr>
          <a:xfrm>
            <a:off x="4787651" y="5538787"/>
            <a:ext cx="104775" cy="104775"/>
          </a:xfrm>
          <a:prstGeom prst="roundRect">
            <a:avLst>
              <a:gd name="adj" fmla="val 50000"/>
            </a:avLst>
          </a:prstGeom>
          <a:solidFill>
            <a:srgbClr val="F0A5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22"/>
          <p:cNvSpPr txBox="1"/>
          <p:nvPr/>
        </p:nvSpPr>
        <p:spPr>
          <a:xfrm>
            <a:off x="4940051" y="5524500"/>
            <a:ext cx="1331118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Above floor (&lt;25% hurdle)</a:t>
            </a:r>
            <a:endParaRPr/>
          </a:p>
        </p:txBody>
      </p:sp>
      <p:sp>
        <p:nvSpPr>
          <p:cNvPr id="472" name="Google Shape;472;p22"/>
          <p:cNvSpPr txBox="1"/>
          <p:nvPr/>
        </p:nvSpPr>
        <p:spPr>
          <a:xfrm>
            <a:off x="9593460" y="1147762"/>
            <a:ext cx="216024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Median IRR</a:t>
            </a:r>
            <a:endParaRPr/>
          </a:p>
        </p:txBody>
      </p:sp>
      <p:sp>
        <p:nvSpPr>
          <p:cNvPr id="473" name="Google Shape;473;p22"/>
          <p:cNvSpPr txBox="1"/>
          <p:nvPr/>
        </p:nvSpPr>
        <p:spPr>
          <a:xfrm>
            <a:off x="9593460" y="1328737"/>
            <a:ext cx="2160240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Base performance</a:t>
            </a:r>
            <a:endParaRPr/>
          </a:p>
        </p:txBody>
      </p:sp>
      <p:sp>
        <p:nvSpPr>
          <p:cNvPr id="474" name="Google Shape;474;p22"/>
          <p:cNvSpPr txBox="1"/>
          <p:nvPr/>
        </p:nvSpPr>
        <p:spPr>
          <a:xfrm>
            <a:off x="9593460" y="1909762"/>
            <a:ext cx="216024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5th Percentile IRR</a:t>
            </a:r>
            <a:endParaRPr/>
          </a:p>
        </p:txBody>
      </p:sp>
      <p:sp>
        <p:nvSpPr>
          <p:cNvPr id="475" name="Google Shape;475;p22"/>
          <p:cNvSpPr txBox="1"/>
          <p:nvPr/>
        </p:nvSpPr>
        <p:spPr>
          <a:xfrm>
            <a:off x="9593460" y="2090737"/>
            <a:ext cx="2160240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Worst 5% of scenarios</a:t>
            </a:r>
            <a:endParaRPr/>
          </a:p>
        </p:txBody>
      </p:sp>
      <p:sp>
        <p:nvSpPr>
          <p:cNvPr id="476" name="Google Shape;476;p22"/>
          <p:cNvSpPr txBox="1"/>
          <p:nvPr/>
        </p:nvSpPr>
        <p:spPr>
          <a:xfrm>
            <a:off x="9593460" y="2671762"/>
            <a:ext cx="216024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Capital Loss Prob</a:t>
            </a:r>
            <a:endParaRPr/>
          </a:p>
        </p:txBody>
      </p:sp>
      <p:sp>
        <p:nvSpPr>
          <p:cNvPr id="477" name="Google Shape;477;p22"/>
          <p:cNvSpPr txBox="1"/>
          <p:nvPr/>
        </p:nvSpPr>
        <p:spPr>
          <a:xfrm>
            <a:off x="9593460" y="2852737"/>
            <a:ext cx="2160240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Across all 10,000 paths</a:t>
            </a:r>
            <a:endParaRPr/>
          </a:p>
        </p:txBody>
      </p:sp>
      <p:sp>
        <p:nvSpPr>
          <p:cNvPr id="478" name="Google Shape;478;p22"/>
          <p:cNvSpPr txBox="1"/>
          <p:nvPr/>
        </p:nvSpPr>
        <p:spPr>
          <a:xfrm>
            <a:off x="9593460" y="3433762"/>
            <a:ext cx="216024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Minimum IRR</a:t>
            </a:r>
            <a:endParaRPr/>
          </a:p>
        </p:txBody>
      </p:sp>
      <p:sp>
        <p:nvSpPr>
          <p:cNvPr id="479" name="Google Shape;479;p22"/>
          <p:cNvSpPr txBox="1"/>
          <p:nvPr/>
        </p:nvSpPr>
        <p:spPr>
          <a:xfrm>
            <a:off x="9593460" y="3614737"/>
            <a:ext cx="2160240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Lowest single simulation</a:t>
            </a:r>
            <a:endParaRPr/>
          </a:p>
        </p:txBody>
      </p:sp>
      <p:sp>
        <p:nvSpPr>
          <p:cNvPr id="480" name="Google Shape;480;p22"/>
          <p:cNvSpPr txBox="1"/>
          <p:nvPr/>
        </p:nvSpPr>
        <p:spPr>
          <a:xfrm>
            <a:off x="9593460" y="4195762"/>
            <a:ext cx="216024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Simulations Run</a:t>
            </a:r>
            <a:endParaRPr/>
          </a:p>
        </p:txBody>
      </p:sp>
      <p:sp>
        <p:nvSpPr>
          <p:cNvPr id="481" name="Google Shape;481;p22"/>
          <p:cNvSpPr txBox="1"/>
          <p:nvPr/>
        </p:nvSpPr>
        <p:spPr>
          <a:xfrm>
            <a:off x="9593460" y="4376737"/>
            <a:ext cx="2160240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Historical macro distributions</a:t>
            </a: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108B8CA-C3F8-1EA0-FAE9-942E4F1B36E0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-313" t="6433" r="48223" b="46410"/>
          <a:stretch>
            <a:fillRect/>
          </a:stretch>
        </p:blipFill>
        <p:spPr>
          <a:xfrm>
            <a:off x="650380" y="1328737"/>
            <a:ext cx="6817219" cy="415113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6" name="Google Shape;486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638925"/>
            <a:ext cx="1219200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87" name="Google Shape;487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28625" y="952500"/>
            <a:ext cx="5595937" cy="2721173"/>
          </a:xfrm>
          <a:prstGeom prst="rect">
            <a:avLst/>
          </a:prstGeom>
          <a:noFill/>
          <a:ln>
            <a:noFill/>
          </a:ln>
        </p:spPr>
      </p:pic>
      <p:pic>
        <p:nvPicPr>
          <p:cNvPr id="488" name="Google Shape;488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167437" y="952500"/>
            <a:ext cx="5595937" cy="2721173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2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28625" y="3816548"/>
            <a:ext cx="5595937" cy="2721173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23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167437" y="3816548"/>
            <a:ext cx="5595937" cy="2721173"/>
          </a:xfrm>
          <a:prstGeom prst="rect">
            <a:avLst/>
          </a:prstGeom>
          <a:noFill/>
          <a:ln>
            <a:noFill/>
          </a:ln>
        </p:spPr>
      </p:pic>
      <p:pic>
        <p:nvPicPr>
          <p:cNvPr id="491" name="Google Shape;491;p23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00100" y="1371600"/>
            <a:ext cx="107632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23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538912" y="1371600"/>
            <a:ext cx="107632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3" name="Google Shape;493;p23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00100" y="4235648"/>
            <a:ext cx="107632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4" name="Google Shape;494;p23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538912" y="4235648"/>
            <a:ext cx="1076325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495" name="Google Shape;495;p23"/>
          <p:cNvSpPr/>
          <p:nvPr/>
        </p:nvSpPr>
        <p:spPr>
          <a:xfrm>
            <a:off x="361950" y="647700"/>
            <a:ext cx="11468100" cy="9525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23"/>
          <p:cNvSpPr txBox="1"/>
          <p:nvPr/>
        </p:nvSpPr>
        <p:spPr>
          <a:xfrm>
            <a:off x="428625" y="142875"/>
            <a:ext cx="1133475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RISK ASSESSMENT</a:t>
            </a:r>
            <a:endParaRPr/>
          </a:p>
        </p:txBody>
      </p:sp>
      <p:sp>
        <p:nvSpPr>
          <p:cNvPr id="497" name="Google Shape;497;p23"/>
          <p:cNvSpPr txBox="1"/>
          <p:nvPr/>
        </p:nvSpPr>
        <p:spPr>
          <a:xfrm>
            <a:off x="428625" y="285750"/>
            <a:ext cx="11334750" cy="3875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998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Key Risk Factors and Mitigants</a:t>
            </a:r>
            <a:endParaRPr/>
          </a:p>
        </p:txBody>
      </p:sp>
      <p:sp>
        <p:nvSpPr>
          <p:cNvPr id="498" name="Google Shape;498;p23"/>
          <p:cNvSpPr txBox="1"/>
          <p:nvPr/>
        </p:nvSpPr>
        <p:spPr>
          <a:xfrm>
            <a:off x="428625" y="6700837"/>
            <a:ext cx="2571750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Kenya Digital Lending — Investment Due Diligence | February 2026</a:t>
            </a:r>
            <a:endParaRPr/>
          </a:p>
        </p:txBody>
      </p:sp>
      <p:sp>
        <p:nvSpPr>
          <p:cNvPr id="499" name="Google Shape;499;p23"/>
          <p:cNvSpPr txBox="1"/>
          <p:nvPr/>
        </p:nvSpPr>
        <p:spPr>
          <a:xfrm>
            <a:off x="11674375" y="6700837"/>
            <a:ext cx="88999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/>
          </a:p>
        </p:txBody>
      </p:sp>
      <p:sp>
        <p:nvSpPr>
          <p:cNvPr id="500" name="Google Shape;500;p23"/>
          <p:cNvSpPr/>
          <p:nvPr/>
        </p:nvSpPr>
        <p:spPr>
          <a:xfrm>
            <a:off x="438150" y="962025"/>
            <a:ext cx="104775" cy="2702123"/>
          </a:xfrm>
          <a:prstGeom prst="rect">
            <a:avLst/>
          </a:prstGeom>
          <a:solidFill>
            <a:srgbClr val="E840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23"/>
          <p:cNvSpPr txBox="1"/>
          <p:nvPr/>
        </p:nvSpPr>
        <p:spPr>
          <a:xfrm>
            <a:off x="800100" y="1104900"/>
            <a:ext cx="5072062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E84040"/>
                </a:solidFill>
                <a:latin typeface="Calibri"/>
                <a:ea typeface="Calibri"/>
                <a:cs typeface="Calibri"/>
                <a:sym typeface="Calibri"/>
              </a:rPr>
              <a:t>Regulatory Risk</a:t>
            </a:r>
            <a:endParaRPr/>
          </a:p>
        </p:txBody>
      </p:sp>
      <p:sp>
        <p:nvSpPr>
          <p:cNvPr id="502" name="Google Shape;502;p23"/>
          <p:cNvSpPr txBox="1"/>
          <p:nvPr/>
        </p:nvSpPr>
        <p:spPr>
          <a:xfrm>
            <a:off x="800100" y="1695450"/>
            <a:ext cx="5072062" cy="1212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757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Rate cap risk: 2016 precedent exists.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APR Cap scenario IRR 76.5% — still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above hurdle even under 8pp cap.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CBK licensing now mandatory. Licence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is barrier to entry for competitors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once obtained.</a:t>
            </a:r>
            <a:endParaRPr/>
          </a:p>
        </p:txBody>
      </p:sp>
      <p:sp>
        <p:nvSpPr>
          <p:cNvPr id="503" name="Google Shape;503;p23"/>
          <p:cNvSpPr txBox="1"/>
          <p:nvPr/>
        </p:nvSpPr>
        <p:spPr>
          <a:xfrm>
            <a:off x="800100" y="3349823"/>
            <a:ext cx="5072062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Mitigant:</a:t>
            </a:r>
            <a:r>
              <a:rPr lang="en-US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Origination fee structure not subject to rate cap regulation</a:t>
            </a:r>
            <a:endParaRPr/>
          </a:p>
        </p:txBody>
      </p:sp>
      <p:sp>
        <p:nvSpPr>
          <p:cNvPr id="504" name="Google Shape;504;p23"/>
          <p:cNvSpPr/>
          <p:nvPr/>
        </p:nvSpPr>
        <p:spPr>
          <a:xfrm>
            <a:off x="6176962" y="962025"/>
            <a:ext cx="104775" cy="2702123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p23"/>
          <p:cNvSpPr txBox="1"/>
          <p:nvPr/>
        </p:nvSpPr>
        <p:spPr>
          <a:xfrm>
            <a:off x="6538912" y="1104900"/>
            <a:ext cx="5072062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Credit Risk</a:t>
            </a:r>
            <a:endParaRPr/>
          </a:p>
        </p:txBody>
      </p:sp>
      <p:sp>
        <p:nvSpPr>
          <p:cNvPr id="506" name="Google Shape;506;p23"/>
          <p:cNvSpPr txBox="1"/>
          <p:nvPr/>
        </p:nvSpPr>
        <p:spPr>
          <a:xfrm>
            <a:off x="6538912" y="1695450"/>
            <a:ext cx="5072062" cy="1559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757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20% subprime allocation creates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loss volatility risk.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Model trained on non-Kenya data.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Behavioural features not fully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transferable without CRB validation.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First-cycle borrower adverse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selection is a known risk.</a:t>
            </a:r>
            <a:endParaRPr/>
          </a:p>
        </p:txBody>
      </p:sp>
      <p:sp>
        <p:nvSpPr>
          <p:cNvPr id="507" name="Google Shape;507;p23"/>
          <p:cNvSpPr txBox="1"/>
          <p:nvPr/>
        </p:nvSpPr>
        <p:spPr>
          <a:xfrm>
            <a:off x="6538912" y="3349823"/>
            <a:ext cx="5072062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Mitigant:</a:t>
            </a:r>
            <a:r>
              <a:rPr lang="en-US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Kenya-native model recalibration after 12 months operational data</a:t>
            </a:r>
            <a:endParaRPr/>
          </a:p>
        </p:txBody>
      </p:sp>
      <p:sp>
        <p:nvSpPr>
          <p:cNvPr id="508" name="Google Shape;508;p23"/>
          <p:cNvSpPr/>
          <p:nvPr/>
        </p:nvSpPr>
        <p:spPr>
          <a:xfrm>
            <a:off x="438150" y="3826073"/>
            <a:ext cx="104775" cy="2702123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23"/>
          <p:cNvSpPr txBox="1"/>
          <p:nvPr/>
        </p:nvSpPr>
        <p:spPr>
          <a:xfrm>
            <a:off x="800100" y="3968948"/>
            <a:ext cx="5072062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Operational Risk</a:t>
            </a:r>
            <a:endParaRPr/>
          </a:p>
        </p:txBody>
      </p:sp>
      <p:sp>
        <p:nvSpPr>
          <p:cNvPr id="510" name="Google Shape;510;p23"/>
          <p:cNvSpPr txBox="1"/>
          <p:nvPr/>
        </p:nvSpPr>
        <p:spPr>
          <a:xfrm>
            <a:off x="800100" y="4559498"/>
            <a:ext cx="5072062" cy="1385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757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Collections infrastructure must scale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with portfolio. Failure to build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collections capability is the most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common failure mode in African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digital lending.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Technology fraud and synthetic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identity risk increases at scale.</a:t>
            </a:r>
            <a:endParaRPr/>
          </a:p>
        </p:txBody>
      </p:sp>
      <p:sp>
        <p:nvSpPr>
          <p:cNvPr id="511" name="Google Shape;511;p23"/>
          <p:cNvSpPr txBox="1"/>
          <p:nvPr/>
        </p:nvSpPr>
        <p:spPr>
          <a:xfrm>
            <a:off x="800100" y="6213871"/>
            <a:ext cx="5072062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Mitigant:</a:t>
            </a:r>
            <a:r>
              <a:rPr lang="en-US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Collections tech audit required pre-close</a:t>
            </a:r>
            <a:endParaRPr/>
          </a:p>
        </p:txBody>
      </p:sp>
      <p:sp>
        <p:nvSpPr>
          <p:cNvPr id="512" name="Google Shape;512;p23"/>
          <p:cNvSpPr/>
          <p:nvPr/>
        </p:nvSpPr>
        <p:spPr>
          <a:xfrm>
            <a:off x="6176962" y="3826073"/>
            <a:ext cx="104775" cy="2702123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23"/>
          <p:cNvSpPr txBox="1"/>
          <p:nvPr/>
        </p:nvSpPr>
        <p:spPr>
          <a:xfrm>
            <a:off x="6538912" y="3968948"/>
            <a:ext cx="5072062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3A7BD5"/>
                </a:solidFill>
                <a:latin typeface="Calibri"/>
                <a:ea typeface="Calibri"/>
                <a:cs typeface="Calibri"/>
                <a:sym typeface="Calibri"/>
              </a:rPr>
              <a:t>Market Risk</a:t>
            </a:r>
            <a:endParaRPr/>
          </a:p>
        </p:txBody>
      </p:sp>
      <p:sp>
        <p:nvSpPr>
          <p:cNvPr id="514" name="Google Shape;514;p23"/>
          <p:cNvSpPr txBox="1"/>
          <p:nvPr/>
        </p:nvSpPr>
        <p:spPr>
          <a:xfrm>
            <a:off x="6538912" y="4559498"/>
            <a:ext cx="5072062" cy="1559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757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Tala, Branch, Fuliza and Hustler Fund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compete in target segments.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Hustler Fund (government, zero interest)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is disruptive in subprime segment.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M-Pesa API dependency — Safaricom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data access is not guaranteed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7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 in perpetuity.</a:t>
            </a:r>
            <a:endParaRPr/>
          </a:p>
        </p:txBody>
      </p:sp>
      <p:sp>
        <p:nvSpPr>
          <p:cNvPr id="515" name="Google Shape;515;p23"/>
          <p:cNvSpPr txBox="1"/>
          <p:nvPr/>
        </p:nvSpPr>
        <p:spPr>
          <a:xfrm>
            <a:off x="6538912" y="6213871"/>
            <a:ext cx="5072062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Mitigant:</a:t>
            </a:r>
            <a:r>
              <a:rPr lang="en-US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Differentiate on speed, limit size and credit graduation — not price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0" name="Google Shape;520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638925"/>
            <a:ext cx="1219200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21" name="Google Shape;521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734175" y="952500"/>
            <a:ext cx="5038725" cy="1438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22" name="Google Shape;522;p2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734175" y="7381875"/>
            <a:ext cx="5038725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23" name="Google Shape;523;p2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734175" y="3028950"/>
            <a:ext cx="2190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24" name="Google Shape;524;p2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734175" y="3448050"/>
            <a:ext cx="2190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25" name="Google Shape;525;p2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734175" y="3867150"/>
            <a:ext cx="2190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26" name="Google Shape;526;p2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734175" y="4286250"/>
            <a:ext cx="2190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27" name="Google Shape;527;p24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734175" y="4705350"/>
            <a:ext cx="2190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28" name="Google Shape;528;p24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5553075" y="1781175"/>
            <a:ext cx="455265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29" name="Google Shape;529;p24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5553075" y="2219325"/>
            <a:ext cx="455265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0" name="Google Shape;530;p24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5553075" y="2657475"/>
            <a:ext cx="455265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1" name="Google Shape;531;p24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5553075" y="3095625"/>
            <a:ext cx="455265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2" name="Google Shape;532;p24" descr="image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5553075" y="3533775"/>
            <a:ext cx="603349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3" name="Google Shape;533;p24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5553075" y="3971925"/>
            <a:ext cx="455265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534" name="Google Shape;534;p24"/>
          <p:cNvSpPr/>
          <p:nvPr/>
        </p:nvSpPr>
        <p:spPr>
          <a:xfrm>
            <a:off x="361950" y="647700"/>
            <a:ext cx="11468100" cy="9525"/>
          </a:xfrm>
          <a:prstGeom prst="rect">
            <a:avLst/>
          </a:prstGeom>
          <a:solidFill>
            <a:srgbClr val="3A7B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24"/>
          <p:cNvSpPr txBox="1"/>
          <p:nvPr/>
        </p:nvSpPr>
        <p:spPr>
          <a:xfrm>
            <a:off x="428625" y="142875"/>
            <a:ext cx="11334750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INVESTMENT DECISION</a:t>
            </a:r>
            <a:endParaRPr/>
          </a:p>
        </p:txBody>
      </p:sp>
      <p:sp>
        <p:nvSpPr>
          <p:cNvPr id="536" name="Google Shape;536;p24"/>
          <p:cNvSpPr txBox="1"/>
          <p:nvPr/>
        </p:nvSpPr>
        <p:spPr>
          <a:xfrm>
            <a:off x="428625" y="285750"/>
            <a:ext cx="11334750" cy="3875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998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Decision Framework | 6 Criteria | Recommendation</a:t>
            </a:r>
            <a:endParaRPr/>
          </a:p>
        </p:txBody>
      </p:sp>
      <p:sp>
        <p:nvSpPr>
          <p:cNvPr id="537" name="Google Shape;537;p24"/>
          <p:cNvSpPr txBox="1"/>
          <p:nvPr/>
        </p:nvSpPr>
        <p:spPr>
          <a:xfrm>
            <a:off x="428625" y="6700837"/>
            <a:ext cx="2571750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Kenya Digital Lending — Investment Due Diligence | February 2026</a:t>
            </a:r>
            <a:endParaRPr/>
          </a:p>
        </p:txBody>
      </p:sp>
      <p:sp>
        <p:nvSpPr>
          <p:cNvPr id="538" name="Google Shape;538;p24"/>
          <p:cNvSpPr txBox="1"/>
          <p:nvPr/>
        </p:nvSpPr>
        <p:spPr>
          <a:xfrm>
            <a:off x="11667976" y="6700837"/>
            <a:ext cx="95398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" b="0" i="0" u="none" strike="noStrike" cap="none">
                <a:solidFill>
                  <a:srgbClr val="4A5578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/>
          </a:p>
        </p:txBody>
      </p:sp>
      <p:sp>
        <p:nvSpPr>
          <p:cNvPr id="539" name="Google Shape;539;p24"/>
          <p:cNvSpPr txBox="1"/>
          <p:nvPr/>
        </p:nvSpPr>
        <p:spPr>
          <a:xfrm>
            <a:off x="428625" y="952500"/>
            <a:ext cx="611505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Investment Criteria Assessment</a:t>
            </a:r>
            <a:endParaRPr/>
          </a:p>
        </p:txBody>
      </p:sp>
      <p:graphicFrame>
        <p:nvGraphicFramePr>
          <p:cNvPr id="540" name="Google Shape;540;p24"/>
          <p:cNvGraphicFramePr/>
          <p:nvPr>
            <p:extLst>
              <p:ext uri="{D42A27DB-BD31-4B8C-83A1-F6EECF244321}">
                <p14:modId xmlns:p14="http://schemas.microsoft.com/office/powerpoint/2010/main" val="3906952302"/>
              </p:ext>
            </p:extLst>
          </p:nvPr>
        </p:nvGraphicFramePr>
        <p:xfrm>
          <a:off x="419725" y="1266825"/>
          <a:ext cx="6123950" cy="4029340"/>
        </p:xfrm>
        <a:graphic>
          <a:graphicData uri="http://schemas.openxmlformats.org/drawingml/2006/table">
            <a:tbl>
              <a:tblPr firstRow="1" bandRow="1">
                <a:noFill/>
                <a:tableStyleId>{163A856A-0E42-4943-8640-E0C2A1199798}</a:tableStyleId>
              </a:tblPr>
              <a:tblGrid>
                <a:gridCol w="2342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38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5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2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E8F0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Criterion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E8F0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Threshold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E8F0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Result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E8F0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Status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 IRR</a:t>
                      </a: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&gt; 25%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86.7% median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b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PASS</a:t>
                      </a:r>
                      <a:b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Recession IRR</a:t>
                      </a: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&gt; 10%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65.1% at P5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b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PASS</a:t>
                      </a:r>
                      <a:b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Capital Loss Prob</a:t>
                      </a: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 20%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0.0%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b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PASS</a:t>
                      </a:r>
                      <a:b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2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MOIC</a:t>
                      </a: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&gt; 2.5x</a:t>
                      </a: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8.0x / ~5.0x</a:t>
                      </a: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b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PASS</a:t>
                      </a:r>
                      <a:b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2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DPI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&gt; 0.5x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0.19x</a:t>
                      </a: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b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REVIEW</a:t>
                      </a:r>
                      <a:b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4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2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Year 1 EBITDA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Positive</a:t>
                      </a:r>
                      <a:endParaRPr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KES 22M</a:t>
                      </a: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br>
                        <a:rPr lang="en-US" sz="1200" b="0" i="0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-US" sz="1200" b="0" i="0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PASS</a:t>
                      </a:r>
                      <a:br>
                        <a:rPr lang="en-US" sz="1200" b="0" i="0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-US" sz="1200" b="0" i="0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</a:t>
                      </a:r>
                      <a:endParaRPr dirty="0">
                        <a:solidFill>
                          <a:schemeClr val="bg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23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41" name="Google Shape;541;p24"/>
          <p:cNvSpPr txBox="1"/>
          <p:nvPr/>
        </p:nvSpPr>
        <p:spPr>
          <a:xfrm>
            <a:off x="419725" y="5413723"/>
            <a:ext cx="6115050" cy="2931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641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 dirty="0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DPI failure reflects deliberate reinvestment strategy — not a business model concern.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825" b="0" i="0" u="none" strike="noStrike" cap="none" dirty="0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 Exit covenant protections recommended at term sheet stage.</a:t>
            </a:r>
            <a:endParaRPr dirty="0"/>
          </a:p>
        </p:txBody>
      </p:sp>
      <p:sp>
        <p:nvSpPr>
          <p:cNvPr id="542" name="Google Shape;542;p24"/>
          <p:cNvSpPr txBox="1"/>
          <p:nvPr/>
        </p:nvSpPr>
        <p:spPr>
          <a:xfrm>
            <a:off x="6734175" y="2667000"/>
            <a:ext cx="503872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Recommended Conditions Before Close:</a:t>
            </a:r>
            <a:endParaRPr/>
          </a:p>
        </p:txBody>
      </p:sp>
      <p:sp>
        <p:nvSpPr>
          <p:cNvPr id="543" name="Google Shape;543;p24"/>
          <p:cNvSpPr txBox="1"/>
          <p:nvPr/>
        </p:nvSpPr>
        <p:spPr>
          <a:xfrm>
            <a:off x="7593955" y="1266825"/>
            <a:ext cx="3319016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D4A0"/>
                </a:solidFill>
                <a:latin typeface="Calibri"/>
                <a:ea typeface="Calibri"/>
                <a:cs typeface="Calibri"/>
                <a:sym typeface="Calibri"/>
              </a:rPr>
              <a:t>RECOMMEND: INVEST</a:t>
            </a:r>
            <a:endParaRPr/>
          </a:p>
        </p:txBody>
      </p:sp>
      <p:sp>
        <p:nvSpPr>
          <p:cNvPr id="544" name="Google Shape;544;p24"/>
          <p:cNvSpPr txBox="1"/>
          <p:nvPr/>
        </p:nvSpPr>
        <p:spPr>
          <a:xfrm>
            <a:off x="8669833" y="1695450"/>
            <a:ext cx="1167407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5 of 6 criteria pass</a:t>
            </a:r>
            <a:endParaRPr/>
          </a:p>
        </p:txBody>
      </p:sp>
      <p:sp>
        <p:nvSpPr>
          <p:cNvPr id="545" name="Google Shape;545;p24"/>
          <p:cNvSpPr txBox="1"/>
          <p:nvPr/>
        </p:nvSpPr>
        <p:spPr>
          <a:xfrm>
            <a:off x="8221116" y="1933575"/>
            <a:ext cx="2064841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6A7898"/>
                </a:solidFill>
                <a:latin typeface="Calibri"/>
                <a:ea typeface="Calibri"/>
                <a:cs typeface="Calibri"/>
                <a:sym typeface="Calibri"/>
              </a:rPr>
              <a:t>DPI noted — exit protections required</a:t>
            </a:r>
            <a:endParaRPr/>
          </a:p>
        </p:txBody>
      </p:sp>
      <p:sp>
        <p:nvSpPr>
          <p:cNvPr id="546" name="Google Shape;546;p24"/>
          <p:cNvSpPr txBox="1"/>
          <p:nvPr/>
        </p:nvSpPr>
        <p:spPr>
          <a:xfrm>
            <a:off x="7096125" y="3009900"/>
            <a:ext cx="2922686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CBK Licence Confirmed</a:t>
            </a:r>
            <a:endParaRPr/>
          </a:p>
        </p:txBody>
      </p:sp>
      <p:sp>
        <p:nvSpPr>
          <p:cNvPr id="547" name="Google Shape;547;p24"/>
          <p:cNvSpPr txBox="1"/>
          <p:nvPr/>
        </p:nvSpPr>
        <p:spPr>
          <a:xfrm>
            <a:off x="7096125" y="3152775"/>
            <a:ext cx="2922686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Digital Credit Provider licence active and in good standing</a:t>
            </a:r>
            <a:endParaRPr/>
          </a:p>
        </p:txBody>
      </p:sp>
      <p:sp>
        <p:nvSpPr>
          <p:cNvPr id="548" name="Google Shape;548;p24"/>
          <p:cNvSpPr txBox="1"/>
          <p:nvPr/>
        </p:nvSpPr>
        <p:spPr>
          <a:xfrm>
            <a:off x="7096125" y="3429000"/>
            <a:ext cx="3405038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M-Pesa API Rights Confirmed</a:t>
            </a:r>
            <a:endParaRPr/>
          </a:p>
        </p:txBody>
      </p:sp>
      <p:sp>
        <p:nvSpPr>
          <p:cNvPr id="549" name="Google Shape;549;p24"/>
          <p:cNvSpPr txBox="1"/>
          <p:nvPr/>
        </p:nvSpPr>
        <p:spPr>
          <a:xfrm>
            <a:off x="7096125" y="3571875"/>
            <a:ext cx="3405038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Data sharing rights for credit underwriting confirmed with Safaricom</a:t>
            </a:r>
            <a:endParaRPr/>
          </a:p>
        </p:txBody>
      </p:sp>
      <p:sp>
        <p:nvSpPr>
          <p:cNvPr id="550" name="Google Shape;550;p24"/>
          <p:cNvSpPr txBox="1"/>
          <p:nvPr/>
        </p:nvSpPr>
        <p:spPr>
          <a:xfrm>
            <a:off x="7096125" y="3848100"/>
            <a:ext cx="3271986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Exit Trigger Covenant</a:t>
            </a:r>
            <a:endParaRPr/>
          </a:p>
        </p:txBody>
      </p:sp>
      <p:sp>
        <p:nvSpPr>
          <p:cNvPr id="551" name="Google Shape;551;p24"/>
          <p:cNvSpPr txBox="1"/>
          <p:nvPr/>
        </p:nvSpPr>
        <p:spPr>
          <a:xfrm>
            <a:off x="7096125" y="3990975"/>
            <a:ext cx="3271986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Pre-agreed conditions for strategic sale or secondary transaction</a:t>
            </a:r>
            <a:endParaRPr/>
          </a:p>
        </p:txBody>
      </p:sp>
      <p:sp>
        <p:nvSpPr>
          <p:cNvPr id="552" name="Google Shape;552;p24"/>
          <p:cNvSpPr txBox="1"/>
          <p:nvPr/>
        </p:nvSpPr>
        <p:spPr>
          <a:xfrm>
            <a:off x="7096125" y="4267200"/>
            <a:ext cx="3253233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Collections Audit</a:t>
            </a:r>
            <a:endParaRPr/>
          </a:p>
        </p:txBody>
      </p:sp>
      <p:sp>
        <p:nvSpPr>
          <p:cNvPr id="553" name="Google Shape;553;p24"/>
          <p:cNvSpPr txBox="1"/>
          <p:nvPr/>
        </p:nvSpPr>
        <p:spPr>
          <a:xfrm>
            <a:off x="7096125" y="4410075"/>
            <a:ext cx="3253233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Independent review of collections technology and recovery rates</a:t>
            </a:r>
            <a:endParaRPr/>
          </a:p>
        </p:txBody>
      </p:sp>
      <p:sp>
        <p:nvSpPr>
          <p:cNvPr id="554" name="Google Shape;554;p24"/>
          <p:cNvSpPr txBox="1"/>
          <p:nvPr/>
        </p:nvSpPr>
        <p:spPr>
          <a:xfrm>
            <a:off x="7096125" y="4686300"/>
            <a:ext cx="2878335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E8F0FF"/>
                </a:solidFill>
                <a:latin typeface="Calibri"/>
                <a:ea typeface="Calibri"/>
                <a:cs typeface="Calibri"/>
                <a:sym typeface="Calibri"/>
              </a:rPr>
              <a:t>Model Recalibration Commitment</a:t>
            </a:r>
            <a:endParaRPr/>
          </a:p>
        </p:txBody>
      </p:sp>
      <p:sp>
        <p:nvSpPr>
          <p:cNvPr id="555" name="Google Shape;555;p24"/>
          <p:cNvSpPr txBox="1"/>
          <p:nvPr/>
        </p:nvSpPr>
        <p:spPr>
          <a:xfrm>
            <a:off x="7096125" y="4829175"/>
            <a:ext cx="2878335" cy="13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8D4F0"/>
                </a:solidFill>
                <a:latin typeface="Calibri"/>
                <a:ea typeface="Calibri"/>
                <a:cs typeface="Calibri"/>
                <a:sym typeface="Calibri"/>
              </a:rPr>
              <a:t>Kenya-native PD model after 12 months operational data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1886</Words>
  <Application>Microsoft Office PowerPoint</Application>
  <PresentationFormat>Widescreen</PresentationFormat>
  <Paragraphs>370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Jeff Mutuku</dc:creator>
  <cp:lastModifiedBy>Jeff Mutuku</cp:lastModifiedBy>
  <cp:revision>1</cp:revision>
  <dcterms:modified xsi:type="dcterms:W3CDTF">2026-02-28T11:35:35Z</dcterms:modified>
</cp:coreProperties>
</file>